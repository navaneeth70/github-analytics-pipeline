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6.xml" ContentType="application/vnd.openxmlformats-officedocument.presentationml.slide+xml"/>
  <Override PartName="/ppt/presProps.xml" ContentType="application/vnd.openxmlformats-officedocument.presentationml.presProps+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1"/>
  </p:notesMasterIdLst>
  <p:sldIdLst>
    <p:sldId id="256" r:id="rId4"/>
    <p:sldId id="257" r:id="rId5"/>
    <p:sldId id="258" r:id="rId6"/>
    <p:sldId id="259" r:id="rId7"/>
    <p:sldId id="260" r:id="rId8"/>
    <p:sldId id="261" r:id="rId9"/>
    <p:sldId id="262" r:id="rId10"/>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07" d="100"/>
          <a:sy n="107" d="100"/>
        </p:scale>
        <p:origin x="754" y="110"/>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presProps" Target="presProps.xml" /><Relationship Id="rId13" Type="http://schemas.openxmlformats.org/officeDocument/2006/relationships/tableStyles" Target="tableStyles.xml" /><Relationship Id="rId1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5135152" name="Slide Image Placeholder 1"/>
          <p:cNvSpPr>
            <a:spLocks noChangeAspect="1" noGrp="1" noRot="1"/>
          </p:cNvSpPr>
          <p:nvPr>
            <p:ph type="sldImg"/>
          </p:nvPr>
        </p:nvSpPr>
        <p:spPr bwMode="auto"/>
      </p:sp>
      <p:sp>
        <p:nvSpPr>
          <p:cNvPr id="10112833" name="Notes Placeholder 2"/>
          <p:cNvSpPr>
            <a:spLocks noGrp="1"/>
          </p:cNvSpPr>
          <p:nvPr>
            <p:ph type="body" idx="1"/>
          </p:nvPr>
        </p:nvSpPr>
        <p:spPr bwMode="auto"/>
        <p:txBody>
          <a:bodyPr/>
          <a:lstStyle/>
          <a:p>
            <a:pPr>
              <a:defRPr/>
            </a:pPr>
            <a:r>
              <a:rPr lang="en-US"/>
              <a:t>Welcome to the GitHub Analytics Pipeline project presentation. This project demonstrates the complete data engineering workflow from data extraction through analytics. We will cover the architecture, implementation details, and key learnings from this project.</a:t>
            </a:r>
            <a:endParaRPr/>
          </a:p>
        </p:txBody>
      </p:sp>
      <p:sp>
        <p:nvSpPr>
          <p:cNvPr id="1950005346"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7430075" name="Slide Image Placeholder 1"/>
          <p:cNvSpPr>
            <a:spLocks noChangeAspect="1" noGrp="1" noRot="1"/>
          </p:cNvSpPr>
          <p:nvPr>
            <p:ph type="sldImg"/>
          </p:nvPr>
        </p:nvSpPr>
        <p:spPr bwMode="auto"/>
      </p:sp>
      <p:sp>
        <p:nvSpPr>
          <p:cNvPr id="1630443507" name="Notes Placeholder 2"/>
          <p:cNvSpPr>
            <a:spLocks noGrp="1"/>
          </p:cNvSpPr>
          <p:nvPr>
            <p:ph type="body" idx="1"/>
          </p:nvPr>
        </p:nvSpPr>
        <p:spPr bwMode="auto"/>
        <p:txBody>
          <a:bodyPr/>
          <a:lstStyle/>
          <a:p>
            <a:pPr>
              <a:defRPr/>
            </a:pPr>
            <a:r>
              <a:rPr lang="en-US"/>
              <a:t>Data engineering is the practice of designing and building systems to collect raw data and process it into formats useful for analysis. GitHub is an excellent data source because it contains rich, structured data about software development activities. This project will demonstrate how to extract this data, clean it, store it properly, and then use it for analytics.</a:t>
            </a:r>
            <a:endParaRPr/>
          </a:p>
        </p:txBody>
      </p:sp>
      <p:sp>
        <p:nvSpPr>
          <p:cNvPr id="747104948"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6539682" name="Slide Image Placeholder 1"/>
          <p:cNvSpPr>
            <a:spLocks noChangeAspect="1" noGrp="1" noRot="1"/>
          </p:cNvSpPr>
          <p:nvPr>
            <p:ph type="sldImg"/>
          </p:nvPr>
        </p:nvSpPr>
        <p:spPr bwMode="auto"/>
      </p:sp>
      <p:sp>
        <p:nvSpPr>
          <p:cNvPr id="1105237452" name="Notes Placeholder 2"/>
          <p:cNvSpPr>
            <a:spLocks noGrp="1"/>
          </p:cNvSpPr>
          <p:nvPr>
            <p:ph type="body" idx="1"/>
          </p:nvPr>
        </p:nvSpPr>
        <p:spPr bwMode="auto"/>
        <p:txBody>
          <a:bodyPr/>
          <a:lstStyle/>
          <a:p>
            <a:pPr>
              <a:defRPr/>
            </a:pPr>
            <a:r>
              <a:rPr lang="en-US"/>
              <a:t>The GitHub API provides raw data, but it has several limitations. First, the data is unstructured and requires significant processing. Second, querying the API directly for complex analysis is slow. Third, data from multiple API calls can have inconsistencies. Our solution is to build a pipeline that automates data collection, cleaning, and storage, enabling fast analytics.</a:t>
            </a:r>
            <a:endParaRPr/>
          </a:p>
        </p:txBody>
      </p:sp>
      <p:sp>
        <p:nvSpPr>
          <p:cNvPr id="202420066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504753" name="Slide Image Placeholder 1"/>
          <p:cNvSpPr>
            <a:spLocks noChangeAspect="1" noGrp="1" noRot="1"/>
          </p:cNvSpPr>
          <p:nvPr>
            <p:ph type="sldImg"/>
          </p:nvPr>
        </p:nvSpPr>
        <p:spPr bwMode="auto"/>
      </p:sp>
      <p:sp>
        <p:nvSpPr>
          <p:cNvPr id="144944577" name="Notes Placeholder 2"/>
          <p:cNvSpPr>
            <a:spLocks noGrp="1"/>
          </p:cNvSpPr>
          <p:nvPr>
            <p:ph type="body" idx="1"/>
          </p:nvPr>
        </p:nvSpPr>
        <p:spPr bwMode="auto"/>
        <p:txBody>
          <a:bodyPr/>
          <a:lstStyle/>
          <a:p>
            <a:pPr>
              <a:defRPr/>
            </a:pPr>
            <a:r>
              <a:rPr lang="en-US"/>
              <a:t>The project has five main objectives. First, we extract data from GitHub repositories using the REST API. Second, we implement data cleaning to handle missing values and inconsistencies. Third, we store the processed data in PostgreSQL for efficient querying. Fourth, we analyze patterns in repository activity. Finally, we generate visualizations and dashboards that provide actionable insights.</a:t>
            </a:r>
            <a:endParaRPr/>
          </a:p>
        </p:txBody>
      </p:sp>
      <p:sp>
        <p:nvSpPr>
          <p:cNvPr id="19970298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005984" name="Slide Image Placeholder 1"/>
          <p:cNvSpPr>
            <a:spLocks noChangeAspect="1" noGrp="1" noRot="1"/>
          </p:cNvSpPr>
          <p:nvPr>
            <p:ph type="sldImg"/>
          </p:nvPr>
        </p:nvSpPr>
        <p:spPr bwMode="auto"/>
      </p:sp>
      <p:sp>
        <p:nvSpPr>
          <p:cNvPr id="758228301" name="Notes Placeholder 2"/>
          <p:cNvSpPr>
            <a:spLocks noGrp="1"/>
          </p:cNvSpPr>
          <p:nvPr>
            <p:ph type="body" idx="1"/>
          </p:nvPr>
        </p:nvSpPr>
        <p:spPr bwMode="auto"/>
        <p:txBody>
          <a:bodyPr/>
          <a:lstStyle/>
          <a:p>
            <a:pPr>
              <a:defRPr/>
            </a:pPr>
            <a:r>
              <a:rPr lang="en-US"/>
              <a:t>We use Python as the primary programming language for its rich ecosystem of data tools. The GitHub REST API is our data source. Pandas is used for efficient data manipulation. PostgreSQL is our database for storing structured data. We use Power BI or Streamlit for visualization. Git and GitHub provide version control.</a:t>
            </a:r>
            <a:endParaRPr/>
          </a:p>
        </p:txBody>
      </p:sp>
      <p:sp>
        <p:nvSpPr>
          <p:cNvPr id="823655699"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5651285" name="Slide Image Placeholder 1"/>
          <p:cNvSpPr>
            <a:spLocks noChangeAspect="1" noGrp="1" noRot="1"/>
          </p:cNvSpPr>
          <p:nvPr>
            <p:ph type="sldImg"/>
          </p:nvPr>
        </p:nvSpPr>
        <p:spPr bwMode="auto"/>
      </p:sp>
      <p:sp>
        <p:nvSpPr>
          <p:cNvPr id="1885558318" name="Notes Placeholder 2"/>
          <p:cNvSpPr>
            <a:spLocks noGrp="1"/>
          </p:cNvSpPr>
          <p:nvPr>
            <p:ph type="body" idx="1"/>
          </p:nvPr>
        </p:nvSpPr>
        <p:spPr bwMode="auto"/>
        <p:txBody>
          <a:bodyPr/>
          <a:lstStyle/>
          <a:p>
            <a:pPr>
              <a:defRPr/>
            </a:pPr>
            <a:r>
              <a:rPr lang="en-US"/>
              <a:t>The architecture follows a classic ETL pipeline. First, we extract data from the GitHub API. The raw API response is then parsed and transformed into a consistent format. Next, we perform data cleaning including handling missing values and removing duplicates. The cleaned data is loaded into PostgreSQL where it is organized into normalized tables. Finally, we perform analytics queries and create visualizations through a dashboard.</a:t>
            </a:r>
            <a:endParaRPr/>
          </a:p>
        </p:txBody>
      </p:sp>
      <p:sp>
        <p:nvSpPr>
          <p:cNvPr id="1513379262"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9545650" name="Slide Image Placeholder 1"/>
          <p:cNvSpPr>
            <a:spLocks noChangeAspect="1" noGrp="1" noRot="1"/>
          </p:cNvSpPr>
          <p:nvPr>
            <p:ph type="sldImg"/>
          </p:nvPr>
        </p:nvSpPr>
        <p:spPr bwMode="auto"/>
      </p:sp>
      <p:sp>
        <p:nvSpPr>
          <p:cNvPr id="496126013" name="Notes Placeholder 2"/>
          <p:cNvSpPr>
            <a:spLocks noGrp="1"/>
          </p:cNvSpPr>
          <p:nvPr>
            <p:ph type="body" idx="1"/>
          </p:nvPr>
        </p:nvSpPr>
        <p:spPr bwMode="auto"/>
        <p:txBody>
          <a:bodyPr/>
          <a:lstStyle/>
          <a:p>
            <a:pPr>
              <a:defRPr/>
            </a:pPr>
            <a:endParaRPr/>
          </a:p>
        </p:txBody>
      </p:sp>
      <p:sp>
        <p:nvSpPr>
          <p:cNvPr id="1971696403"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F3A7F"/>
        </a:solidFill>
      </p:bgPr>
    </p:bg>
    <p:spTree>
      <p:nvGrpSpPr>
        <p:cNvPr id="1" name=""/>
        <p:cNvGrpSpPr/>
        <p:nvPr/>
      </p:nvGrpSpPr>
      <p:grpSpPr bwMode="auto">
        <a:xfrm>
          <a:off x="0" y="0"/>
          <a:ext cx="0" cy="0"/>
          <a:chOff x="0" y="0"/>
          <a:chExt cx="0" cy="0"/>
        </a:xfrm>
      </p:grpSpPr>
      <p:sp>
        <p:nvSpPr>
          <p:cNvPr id="780703527" name="Text 0"/>
          <p:cNvSpPr/>
          <p:nvPr/>
        </p:nvSpPr>
        <p:spPr bwMode="auto">
          <a:xfrm>
            <a:off x="323557" y="1389625"/>
            <a:ext cx="8229600" cy="914400"/>
          </a:xfrm>
          <a:prstGeom prst="rect">
            <a:avLst/>
          </a:prstGeom>
          <a:noFill/>
          <a:ln/>
        </p:spPr>
        <p:txBody>
          <a:bodyPr wrap="square" rtlCol="0" anchor="ctr"/>
          <a:lstStyle/>
          <a:p>
            <a:pPr marL="0" indent="0" algn="ctr">
              <a:buNone/>
              <a:defRPr/>
            </a:pPr>
            <a:r>
              <a:rPr lang="en-US" sz="4400" b="1">
                <a:solidFill>
                  <a:srgbClr val="FFFFFF"/>
                </a:solidFill>
                <a:latin typeface="Calibri"/>
                <a:ea typeface="Calibri"/>
                <a:cs typeface="Calibri"/>
              </a:rPr>
              <a:t>GitHub Analytics Pipeline</a:t>
            </a:r>
            <a:endParaRPr lang="en-US" sz="4400"/>
          </a:p>
        </p:txBody>
      </p:sp>
      <p:sp>
        <p:nvSpPr>
          <p:cNvPr id="1065819217" name="Text 1"/>
          <p:cNvSpPr/>
          <p:nvPr/>
        </p:nvSpPr>
        <p:spPr bwMode="auto">
          <a:xfrm>
            <a:off x="323557" y="2722098"/>
            <a:ext cx="8229600" cy="731520"/>
          </a:xfrm>
          <a:prstGeom prst="rect">
            <a:avLst/>
          </a:prstGeom>
          <a:noFill/>
          <a:ln/>
        </p:spPr>
        <p:txBody>
          <a:bodyPr wrap="square" rtlCol="0" anchor="ctr"/>
          <a:lstStyle/>
          <a:p>
            <a:pPr marL="0" indent="0" algn="ctr">
              <a:buNone/>
              <a:defRPr/>
            </a:pPr>
            <a:r>
              <a:rPr lang="en-US" sz="2400" b="1">
                <a:solidFill>
                  <a:schemeClr val="bg2">
                    <a:lumMod val="75000"/>
                  </a:schemeClr>
                </a:solidFill>
                <a:ea typeface="Calibri"/>
                <a:cs typeface="Calibri"/>
              </a:rPr>
              <a:t>Fundamentals of Data Engineering</a:t>
            </a:r>
            <a:endParaRPr/>
          </a:p>
          <a:p>
            <a:pPr algn="ctr">
              <a:defRPr/>
            </a:pPr>
            <a:r>
              <a:rPr lang="en-US" sz="2400" b="1" cap="all">
                <a:ln/>
                <a:solidFill>
                  <a:schemeClr val="bg2">
                    <a:lumMod val="75000"/>
                  </a:schemeClr>
                </a:solidFill>
                <a:cs typeface="Poppins"/>
              </a:rPr>
              <a:t>COURSE CODE: 24DEA3101R</a:t>
            </a:r>
            <a:endParaRPr/>
          </a:p>
          <a:p>
            <a:pPr marL="0" indent="0" algn="ctr">
              <a:buNone/>
              <a:defRPr/>
            </a:pPr>
            <a:endParaRPr lang="en-US" sz="2400"/>
          </a:p>
        </p:txBody>
      </p:sp>
      <p:sp>
        <p:nvSpPr>
          <p:cNvPr id="717343781" name="Text 2"/>
          <p:cNvSpPr/>
          <p:nvPr/>
        </p:nvSpPr>
        <p:spPr bwMode="auto">
          <a:xfrm>
            <a:off x="269197" y="4194810"/>
            <a:ext cx="8229600" cy="365760"/>
          </a:xfrm>
          <a:prstGeom prst="rect">
            <a:avLst/>
          </a:prstGeom>
          <a:noFill/>
          <a:ln/>
        </p:spPr>
        <p:txBody>
          <a:bodyPr wrap="square" rtlCol="0" anchor="ctr"/>
          <a:lstStyle/>
          <a:p>
            <a:pPr marL="0" indent="0" algn="ctr">
              <a:buNone/>
              <a:defRPr/>
            </a:pPr>
            <a:r>
              <a:rPr lang="en-US" sz="1400" u="sng">
                <a:solidFill>
                  <a:schemeClr val="bg1"/>
                </a:solidFill>
              </a:rPr>
              <a:t>Team 10</a:t>
            </a:r>
            <a:endParaRPr/>
          </a:p>
          <a:p>
            <a:pPr marL="0" indent="0" algn="ctr">
              <a:buNone/>
              <a:defRPr/>
            </a:pPr>
            <a:r>
              <a:rPr lang="en-US" sz="1400">
                <a:solidFill>
                  <a:schemeClr val="bg1"/>
                </a:solidFill>
              </a:rPr>
              <a:t> Satya Austin Abner – 2420030587</a:t>
            </a:r>
            <a:endParaRPr/>
          </a:p>
          <a:p>
            <a:pPr algn="ctr">
              <a:defRPr/>
            </a:pPr>
            <a:r>
              <a:rPr lang="en-US" sz="1400">
                <a:solidFill>
                  <a:schemeClr val="bg1"/>
                </a:solidFill>
              </a:rPr>
              <a:t> Animesh Balaji  - 2420030301</a:t>
            </a:r>
            <a:endParaRPr/>
          </a:p>
          <a:p>
            <a:pPr algn="ctr">
              <a:defRPr/>
            </a:pPr>
            <a:r>
              <a:rPr lang="en-US" sz="1400">
                <a:solidFill>
                  <a:schemeClr val="bg1"/>
                </a:solidFill>
              </a:rPr>
              <a:t>Navaneeth - 2420030306</a:t>
            </a:r>
            <a:endParaRPr/>
          </a:p>
          <a:p>
            <a:pPr marL="0" indent="0" algn="ctr">
              <a:buNone/>
              <a:defRPr/>
            </a:pPr>
            <a:endParaRPr lang="en-US" sz="1400">
              <a:solidFill>
                <a:schemeClr val="bg1"/>
              </a:solidFill>
            </a:endParaRPr>
          </a:p>
          <a:p>
            <a:pPr algn="ctr">
              <a:defRPr/>
            </a:pPr>
            <a:endParaRPr lang="en-US" sz="1400">
              <a:solidFill>
                <a:schemeClr val="bg1"/>
              </a:solidFill>
            </a:endParaRPr>
          </a:p>
        </p:txBody>
      </p:sp>
      <p:sp>
        <p:nvSpPr>
          <p:cNvPr id="1999057742" name="Text 4"/>
          <p:cNvSpPr/>
          <p:nvPr/>
        </p:nvSpPr>
        <p:spPr bwMode="auto">
          <a:xfrm>
            <a:off x="147711" y="765810"/>
            <a:ext cx="8229600" cy="365760"/>
          </a:xfrm>
          <a:prstGeom prst="rect">
            <a:avLst/>
          </a:prstGeom>
          <a:noFill/>
          <a:ln/>
        </p:spPr>
        <p:txBody>
          <a:bodyPr wrap="square" rtlCol="0" anchor="ctr"/>
          <a:lstStyle/>
          <a:p>
            <a:pPr algn="ctr">
              <a:defRPr/>
            </a:pPr>
            <a:r>
              <a:rPr lang="en-US" sz="1100" b="1">
                <a:solidFill>
                  <a:schemeClr val="bg1"/>
                </a:solidFill>
              </a:rPr>
              <a:t>DEPARTMENT OF COMPUTER SCIENCE AND ENGINEERING</a:t>
            </a:r>
            <a:endParaRPr/>
          </a:p>
        </p:txBody>
      </p:sp>
      <p:pic>
        <p:nvPicPr>
          <p:cNvPr id="1402027594" name="Picture 8" descr="Contact Bachupally-Bowrampet, Hyderabad Campus - KLH University"/>
          <p:cNvPicPr>
            <a:picLocks noChangeAspect="1"/>
          </p:cNvPicPr>
          <p:nvPr/>
        </p:nvPicPr>
        <p:blipFill rotWithShape="1">
          <a:blip r:embed="rId3"/>
          <a:stretch/>
        </p:blipFill>
        <p:spPr bwMode="auto">
          <a:xfrm>
            <a:off x="3284806" y="34290"/>
            <a:ext cx="1784045" cy="7315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413508371"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986488349"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Abstract</a:t>
            </a:r>
            <a:endParaRPr/>
          </a:p>
        </p:txBody>
      </p:sp>
      <p:sp>
        <p:nvSpPr>
          <p:cNvPr id="1601187725" name="Text 2"/>
          <p:cNvSpPr/>
          <p:nvPr/>
        </p:nvSpPr>
        <p:spPr bwMode="auto">
          <a:xfrm>
            <a:off x="457200" y="1005840"/>
            <a:ext cx="4114800" cy="320040"/>
          </a:xfrm>
          <a:prstGeom prst="rect">
            <a:avLst/>
          </a:prstGeom>
          <a:noFill/>
          <a:ln/>
        </p:spPr>
        <p:txBody>
          <a:bodyPr wrap="square" rtlCol="0" anchor="ctr"/>
          <a:lstStyle/>
          <a:p>
            <a:pPr marL="0" indent="0">
              <a:buNone/>
              <a:defRPr/>
            </a:pPr>
            <a:r>
              <a:rPr lang="en-US" sz="1800" b="1">
                <a:solidFill>
                  <a:srgbClr val="1F3A7F"/>
                </a:solidFill>
                <a:latin typeface="Calibri"/>
                <a:ea typeface="Calibri"/>
                <a:cs typeface="Calibri"/>
              </a:rPr>
              <a:t>What is Data Engineering?</a:t>
            </a:r>
            <a:endParaRPr lang="en-US" sz="1800"/>
          </a:p>
        </p:txBody>
      </p:sp>
      <p:sp>
        <p:nvSpPr>
          <p:cNvPr id="1827346305" name="Text 3"/>
          <p:cNvSpPr/>
          <p:nvPr/>
        </p:nvSpPr>
        <p:spPr bwMode="auto">
          <a:xfrm flipH="0" flipV="0">
            <a:off x="457199" y="1165860"/>
            <a:ext cx="4114800" cy="2001202"/>
          </a:xfrm>
          <a:prstGeom prst="rect">
            <a:avLst/>
          </a:prstGeom>
          <a:noFill/>
          <a:ln/>
        </p:spPr>
        <p:txBody>
          <a:bodyPr wrap="square" rtlCol="0" anchor="ctr"/>
          <a:lstStyle/>
          <a:p>
            <a:pPr>
              <a:defRPr/>
            </a:pPr>
            <a:r>
              <a:rPr sz="1200" b="0" i="0" u="none">
                <a:solidFill>
                  <a:srgbClr val="000000"/>
                </a:solidFill>
                <a:latin typeface="Times New Roman"/>
                <a:ea typeface="Times New Roman"/>
                <a:cs typeface="Times New Roman"/>
              </a:rPr>
              <a:t>Data Engineering is the process of collecting, ingesting, processing, transforming, storing, and preparing data for analysis and decision-making. It focuses on building reliable and scalable data pipelines that convert raw data from different sources into structured and useful information.</a:t>
            </a:r>
            <a:endParaRPr/>
          </a:p>
        </p:txBody>
      </p:sp>
      <p:sp>
        <p:nvSpPr>
          <p:cNvPr id="763430548" name="Text 4"/>
          <p:cNvSpPr/>
          <p:nvPr/>
        </p:nvSpPr>
        <p:spPr bwMode="auto">
          <a:xfrm>
            <a:off x="5029200" y="1005840"/>
            <a:ext cx="3657600" cy="320040"/>
          </a:xfrm>
          <a:prstGeom prst="rect">
            <a:avLst/>
          </a:prstGeom>
          <a:noFill/>
          <a:ln/>
        </p:spPr>
        <p:txBody>
          <a:bodyPr wrap="square" rtlCol="0" anchor="ctr"/>
          <a:lstStyle/>
          <a:p>
            <a:pPr marL="0" indent="0">
              <a:buNone/>
              <a:defRPr/>
            </a:pPr>
            <a:r>
              <a:rPr lang="en-US" sz="1800" b="1">
                <a:solidFill>
                  <a:srgbClr val="1F3A7F"/>
                </a:solidFill>
                <a:latin typeface="Calibri"/>
                <a:ea typeface="Calibri"/>
                <a:cs typeface="Calibri"/>
              </a:rPr>
              <a:t>Why GitHub Data?</a:t>
            </a:r>
            <a:endParaRPr lang="en-US" sz="1800"/>
          </a:p>
        </p:txBody>
      </p:sp>
      <p:sp>
        <p:nvSpPr>
          <p:cNvPr id="1369370934" name="Text 5"/>
          <p:cNvSpPr/>
          <p:nvPr/>
        </p:nvSpPr>
        <p:spPr bwMode="auto">
          <a:xfrm flipH="0" flipV="0">
            <a:off x="5029199" y="1371599"/>
            <a:ext cx="3657600" cy="1557337"/>
          </a:xfrm>
          <a:prstGeom prst="rect">
            <a:avLst/>
          </a:prstGeom>
          <a:noFill/>
          <a:ln/>
        </p:spPr>
        <p:txBody>
          <a:bodyPr wrap="square" rtlCol="0" anchor="ctr"/>
          <a:lstStyle/>
          <a:p>
            <a:pPr>
              <a:defRPr/>
            </a:pPr>
            <a:r>
              <a:rPr sz="1200" b="0" i="0" u="none">
                <a:solidFill>
                  <a:srgbClr val="000000"/>
                </a:solidFill>
                <a:latin typeface="Times New Roman"/>
                <a:ea typeface="Times New Roman"/>
                <a:cs typeface="Times New Roman"/>
              </a:rPr>
              <a:t>GitHub is selected as the data source because it contains large amounts of real-world software development data, including </a:t>
            </a:r>
            <a:r>
              <a:rPr sz="1200" b="1" i="0" u="none">
                <a:solidFill>
                  <a:srgbClr val="000000"/>
                </a:solidFill>
                <a:latin typeface="Times New Roman"/>
                <a:ea typeface="Times New Roman"/>
                <a:cs typeface="Times New Roman"/>
              </a:rPr>
              <a:t>repositories, commits, contributors, issues, pull requests, stars, forks, and programming languages</a:t>
            </a:r>
            <a:r>
              <a:rPr sz="1200" b="0" i="0" u="none">
                <a:solidFill>
                  <a:srgbClr val="000000"/>
                </a:solidFill>
                <a:latin typeface="Times New Roman"/>
                <a:ea typeface="Times New Roman"/>
                <a:cs typeface="Times New Roman"/>
              </a:rPr>
              <a:t>. This makes it a suitable source for demonstrating data ingestion, transformation, storage, data modeling, and analytics.</a:t>
            </a:r>
            <a:endParaRPr/>
          </a:p>
        </p:txBody>
      </p:sp>
      <p:sp>
        <p:nvSpPr>
          <p:cNvPr id="1683785624" name="Text 6"/>
          <p:cNvSpPr/>
          <p:nvPr/>
        </p:nvSpPr>
        <p:spPr bwMode="auto">
          <a:xfrm>
            <a:off x="504824" y="3537585"/>
            <a:ext cx="8229600" cy="320040"/>
          </a:xfrm>
          <a:prstGeom prst="rect">
            <a:avLst/>
          </a:prstGeom>
          <a:noFill/>
          <a:ln/>
        </p:spPr>
        <p:txBody>
          <a:bodyPr wrap="square" rtlCol="0" anchor="ctr"/>
          <a:lstStyle/>
          <a:p>
            <a:pPr marL="0" indent="0">
              <a:buNone/>
              <a:defRPr/>
            </a:pPr>
            <a:r>
              <a:rPr lang="en-US" sz="1800" b="1">
                <a:solidFill>
                  <a:srgbClr val="1F3A7F"/>
                </a:solidFill>
                <a:latin typeface="Calibri"/>
                <a:ea typeface="Calibri"/>
                <a:cs typeface="Calibri"/>
              </a:rPr>
              <a:t>Project Goal</a:t>
            </a:r>
            <a:endParaRPr lang="en-US" sz="1800"/>
          </a:p>
        </p:txBody>
      </p:sp>
      <p:sp>
        <p:nvSpPr>
          <p:cNvPr id="504823865" name="Text 7"/>
          <p:cNvSpPr/>
          <p:nvPr/>
        </p:nvSpPr>
        <p:spPr bwMode="auto">
          <a:xfrm flipH="0" flipV="0">
            <a:off x="457199" y="3697605"/>
            <a:ext cx="8229600" cy="1326832"/>
          </a:xfrm>
          <a:prstGeom prst="rect">
            <a:avLst/>
          </a:prstGeom>
          <a:noFill/>
          <a:ln/>
        </p:spPr>
        <p:txBody>
          <a:bodyPr wrap="square" rtlCol="0" anchor="ctr"/>
          <a:lstStyle/>
          <a:p>
            <a:pPr>
              <a:defRPr/>
            </a:pPr>
            <a:r>
              <a:rPr sz="1200" b="0" i="0" u="none">
                <a:solidFill>
                  <a:srgbClr val="000000"/>
                </a:solidFill>
                <a:latin typeface="Times New Roman"/>
                <a:ea typeface="Times New Roman"/>
                <a:cs typeface="Times New Roman"/>
              </a:rPr>
              <a:t>The goal of this project is to develop an </a:t>
            </a:r>
            <a:r>
              <a:rPr sz="1200" b="1" i="0" u="none">
                <a:solidFill>
                  <a:srgbClr val="000000"/>
                </a:solidFill>
                <a:latin typeface="Times New Roman"/>
                <a:ea typeface="Times New Roman"/>
                <a:cs typeface="Times New Roman"/>
              </a:rPr>
              <a:t>end-to-end GitHub Analytics Data Engineering Pipeline</a:t>
            </a:r>
            <a:r>
              <a:rPr sz="1200" b="0" i="0" u="none">
                <a:solidFill>
                  <a:srgbClr val="000000"/>
                </a:solidFill>
                <a:latin typeface="Times New Roman"/>
                <a:ea typeface="Times New Roman"/>
                <a:cs typeface="Times New Roman"/>
              </a:rPr>
              <a:t> that extracts software development data from the GitHub REST API, processes and cleans the raw data, stores it in a structured PostgreSQL database, and generates meaningful analytical insights.</a:t>
            </a:r>
            <a:r>
              <a:rPr sz="1200" b="0" i="0" u="none">
                <a:solidFill>
                  <a:srgbClr val="000000"/>
                </a:solidFill>
                <a:latin typeface="Times New Roman"/>
                <a:ea typeface="Times New Roman"/>
                <a:cs typeface="Times New Roman"/>
              </a:rPr>
              <a:t>The project aims to automate the movement of GitHub data from the source system to an analytical database and provide visualizations that help understand repository activity, developer contributions, project health, and collaboration patterns.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681144401"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684636417"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Problem Statement</a:t>
            </a:r>
            <a:endParaRPr lang="en-US" sz="3200"/>
          </a:p>
        </p:txBody>
      </p:sp>
      <p:sp>
        <p:nvSpPr>
          <p:cNvPr id="13493631" name="Text 2"/>
          <p:cNvSpPr/>
          <p:nvPr/>
        </p:nvSpPr>
        <p:spPr bwMode="auto">
          <a:xfrm flipH="0" flipV="0">
            <a:off x="266699" y="869155"/>
            <a:ext cx="8229600" cy="3595687"/>
          </a:xfrm>
          <a:prstGeom prst="rect">
            <a:avLst/>
          </a:prstGeom>
          <a:noFill/>
          <a:ln/>
        </p:spPr>
        <p:txBody>
          <a:bodyPr wrap="square" rtlCol="0" anchor="ctr"/>
          <a:lstStyle/>
          <a:p>
            <a:pPr>
              <a:defRPr/>
            </a:pPr>
            <a:r>
              <a:rPr sz="1400" b="0" i="0" u="none">
                <a:solidFill>
                  <a:srgbClr val="000000"/>
                </a:solidFill>
                <a:latin typeface="Times New Roman"/>
                <a:ea typeface="Times New Roman"/>
                <a:cs typeface="Times New Roman"/>
              </a:rPr>
              <a:t>GitHub provides a large amount of software development data through its REST APIs, but the raw API data is not directly suitable for efficient analysis.</a:t>
            </a:r>
            <a:endParaRPr sz="2000"/>
          </a:p>
          <a:p>
            <a:pPr>
              <a:defRPr/>
            </a:pPr>
            <a:r>
              <a:rPr sz="1400" b="0" i="0" u="none">
                <a:solidFill>
                  <a:srgbClr val="000000"/>
                </a:solidFill>
                <a:latin typeface="Times New Roman"/>
                <a:ea typeface="Times New Roman"/>
                <a:cs typeface="Times New Roman"/>
              </a:rPr>
              <a:t>The major challenges are:</a:t>
            </a:r>
            <a:endParaRPr sz="2000"/>
          </a:p>
          <a:p>
            <a:pPr>
              <a:defRPr/>
            </a:pPr>
            <a:r>
              <a:rPr sz="1400" b="0" i="0" u="none">
                <a:solidFill>
                  <a:srgbClr val="000000"/>
                </a:solidFill>
                <a:latin typeface="Times New Roman"/>
                <a:ea typeface="Times New Roman"/>
                <a:cs typeface="Times New Roman"/>
              </a:rPr>
              <a:t>GitHub data is distributed across multiple API endpoints.</a:t>
            </a:r>
            <a:endParaRPr sz="2000"/>
          </a:p>
          <a:p>
            <a:pPr marL="217793" indent="-217793">
              <a:buFont typeface="Arial"/>
              <a:buChar char="•"/>
              <a:defRPr/>
            </a:pPr>
            <a:r>
              <a:rPr sz="1400" b="0" i="0" u="none">
                <a:solidFill>
                  <a:srgbClr val="000000"/>
                </a:solidFill>
                <a:latin typeface="Times New Roman"/>
                <a:ea typeface="Times New Roman"/>
                <a:cs typeface="Times New Roman"/>
              </a:rPr>
              <a:t>Raw API responses contain nested and inconsistent information.</a:t>
            </a:r>
            <a:endParaRPr sz="2000"/>
          </a:p>
          <a:p>
            <a:pPr marL="217793" indent="-217793">
              <a:buFont typeface="Arial"/>
              <a:buChar char="•"/>
              <a:defRPr/>
            </a:pPr>
            <a:r>
              <a:rPr sz="1400" b="0" i="0" u="none">
                <a:solidFill>
                  <a:srgbClr val="000000"/>
                </a:solidFill>
                <a:latin typeface="Times New Roman"/>
                <a:ea typeface="Times New Roman"/>
                <a:cs typeface="Times New Roman"/>
              </a:rPr>
              <a:t>Manual collection of repository and developer activity is time-consuming.</a:t>
            </a:r>
            <a:endParaRPr sz="2000"/>
          </a:p>
          <a:p>
            <a:pPr marL="217793" indent="-217793">
              <a:buFont typeface="Arial"/>
              <a:buChar char="•"/>
              <a:defRPr/>
            </a:pPr>
            <a:r>
              <a:rPr sz="1400" b="0" i="0" u="none">
                <a:solidFill>
                  <a:srgbClr val="000000"/>
                </a:solidFill>
                <a:latin typeface="Times New Roman"/>
                <a:ea typeface="Times New Roman"/>
                <a:cs typeface="Times New Roman"/>
              </a:rPr>
              <a:t>Data requires cleaning, validation, and transformation before analysis.</a:t>
            </a:r>
            <a:endParaRPr sz="2000"/>
          </a:p>
          <a:p>
            <a:pPr marL="217793" indent="-217793">
              <a:buFont typeface="Arial"/>
              <a:buChar char="•"/>
              <a:defRPr/>
            </a:pPr>
            <a:r>
              <a:rPr sz="1400" b="0" i="0" u="none">
                <a:solidFill>
                  <a:srgbClr val="000000"/>
                </a:solidFill>
                <a:latin typeface="Times New Roman"/>
                <a:ea typeface="Times New Roman"/>
                <a:cs typeface="Times New Roman"/>
              </a:rPr>
              <a:t>Repeated API requests can be inefficient and affected by API rate limits.</a:t>
            </a:r>
            <a:endParaRPr sz="2000"/>
          </a:p>
          <a:p>
            <a:pPr marL="217793" indent="-217793">
              <a:buFont typeface="Arial"/>
              <a:buChar char="•"/>
              <a:defRPr/>
            </a:pPr>
            <a:r>
              <a:rPr sz="1400" b="0" i="0" u="none">
                <a:solidFill>
                  <a:srgbClr val="000000"/>
                </a:solidFill>
                <a:latin typeface="Times New Roman"/>
                <a:ea typeface="Times New Roman"/>
                <a:cs typeface="Times New Roman"/>
              </a:rPr>
              <a:t>Direct API queries are not suitable for complex analytical queries.</a:t>
            </a:r>
            <a:endParaRPr sz="2000"/>
          </a:p>
          <a:p>
            <a:pPr marL="217793" indent="-217793">
              <a:buFont typeface="Arial"/>
              <a:buChar char="•"/>
              <a:defRPr/>
            </a:pPr>
            <a:r>
              <a:rPr sz="1400" b="0" i="0" u="none">
                <a:solidFill>
                  <a:srgbClr val="000000"/>
                </a:solidFill>
                <a:latin typeface="Times New Roman"/>
                <a:ea typeface="Times New Roman"/>
                <a:cs typeface="Times New Roman"/>
              </a:rPr>
              <a:t>There is a need for centralized and structured storage for efficient analysis.</a:t>
            </a:r>
            <a:endParaRPr lang="en-US" sz="1400">
              <a:solidFill>
                <a:srgbClr val="2C3E50"/>
              </a:solidFill>
              <a:latin typeface="Calibri"/>
              <a:ea typeface="Calibri"/>
              <a:cs typeface="Calibri"/>
            </a:endParaRPr>
          </a:p>
          <a:p>
            <a:pPr marL="217793" indent="-217793">
              <a:buFont typeface="Arial"/>
              <a:buChar char="•"/>
              <a:defRPr/>
            </a:pPr>
            <a:endParaRPr lang="en-US" sz="1300"/>
          </a:p>
          <a:p>
            <a:pPr>
              <a:defRPr/>
            </a:pPr>
            <a:r>
              <a:rPr sz="1800" b="1" i="0" u="none">
                <a:solidFill>
                  <a:srgbClr val="000000"/>
                </a:solidFill>
                <a:latin typeface="Times New Roman"/>
                <a:ea typeface="Times New Roman"/>
                <a:cs typeface="Times New Roman"/>
              </a:rPr>
              <a:t>Proposed Solution:</a:t>
            </a:r>
            <a:endParaRPr sz="1800" b="1"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Develop a data engineering pipeline that automatically </a:t>
            </a:r>
            <a:r>
              <a:rPr sz="1200" b="1" i="0" u="none">
                <a:solidFill>
                  <a:srgbClr val="000000"/>
                </a:solidFill>
                <a:latin typeface="Times New Roman"/>
                <a:ea typeface="Times New Roman"/>
                <a:cs typeface="Times New Roman"/>
              </a:rPr>
              <a:t>extracts GitHub data, cleans and transforms it, stores it in PostgreSQL, and generates analytical insights through SQL queries and visualizations.</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574159887"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1911919453"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Project Objectives</a:t>
            </a:r>
            <a:endParaRPr lang="en-US" sz="3200"/>
          </a:p>
        </p:txBody>
      </p:sp>
      <p:sp>
        <p:nvSpPr>
          <p:cNvPr id="137497148" name="Shape 2"/>
          <p:cNvSpPr/>
          <p:nvPr/>
        </p:nvSpPr>
        <p:spPr bwMode="auto">
          <a:xfrm flipH="0" flipV="0">
            <a:off x="373856" y="1051560"/>
            <a:ext cx="8247487" cy="3770471"/>
          </a:xfrm>
          <a:prstGeom prst="rect">
            <a:avLst/>
          </a:prstGeom>
          <a:solidFill>
            <a:srgbClr val="ECF0F1"/>
          </a:solidFill>
          <a:ln w="25400">
            <a:solidFill>
              <a:srgbClr val="4A90E2"/>
            </a:solidFill>
            <a:prstDash val="solid"/>
          </a:ln>
        </p:spPr>
        <p:txBody>
          <a:bodyPr/>
          <a:lstStyle/>
          <a:p>
            <a:pPr>
              <a:defRPr/>
            </a:pPr>
            <a:endParaRPr lang="en-IN"/>
          </a:p>
        </p:txBody>
      </p:sp>
      <p:sp>
        <p:nvSpPr>
          <p:cNvPr id="1382252448" name="Text 3"/>
          <p:cNvSpPr/>
          <p:nvPr/>
        </p:nvSpPr>
        <p:spPr bwMode="auto">
          <a:xfrm flipH="0" flipV="0">
            <a:off x="731519" y="1188720"/>
            <a:ext cx="7556448" cy="3454717"/>
          </a:xfrm>
          <a:prstGeom prst="rect">
            <a:avLst/>
          </a:prstGeom>
          <a:noFill/>
          <a:ln/>
        </p:spPr>
        <p:txBody>
          <a:bodyPr wrap="square" rtlCol="0" anchor="ctr"/>
          <a:lstStyle/>
          <a:p>
            <a:pPr>
              <a:defRPr/>
            </a:pPr>
            <a:r>
              <a:rPr sz="1400" b="1" i="0" u="sng">
                <a:solidFill>
                  <a:srgbClr val="000000"/>
                </a:solidFill>
                <a:latin typeface="Times New Roman"/>
                <a:ea typeface="Times New Roman"/>
                <a:cs typeface="Times New Roman"/>
              </a:rPr>
              <a:t>Main Objectives</a:t>
            </a:r>
            <a:r>
              <a:rPr u="sng"/>
              <a:t>:-</a:t>
            </a:r>
            <a:endParaRPr u="sng"/>
          </a:p>
          <a:p>
            <a:pPr marL="217793" indent="-217793">
              <a:buFont typeface="Arial"/>
              <a:buChar char="•"/>
              <a:defRPr/>
            </a:pPr>
            <a:r>
              <a:rPr sz="1200" b="1" i="0" u="none">
                <a:solidFill>
                  <a:srgbClr val="000000"/>
                </a:solidFill>
                <a:latin typeface="Times New Roman"/>
                <a:ea typeface="Times New Roman"/>
                <a:cs typeface="Times New Roman"/>
              </a:rPr>
              <a:t>Extract GitHub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Collect repository, commit, issue, pull-request, and contributor data using the GitHub REST API. </a:t>
            </a:r>
            <a:endParaRPr/>
          </a:p>
          <a:p>
            <a:pPr marL="217793" indent="-217793">
              <a:buFont typeface="Arial"/>
              <a:buChar char="•"/>
              <a:defRPr/>
            </a:pPr>
            <a:r>
              <a:rPr sz="1200" b="1" i="0" u="none">
                <a:solidFill>
                  <a:srgbClr val="000000"/>
                </a:solidFill>
                <a:latin typeface="Times New Roman"/>
                <a:ea typeface="Times New Roman"/>
                <a:cs typeface="Times New Roman"/>
              </a:rPr>
              <a:t>Perform Data Ingestion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Build a reliable process for retrieving and storing data from GitHub. </a:t>
            </a:r>
            <a:endParaRPr/>
          </a:p>
          <a:p>
            <a:pPr marL="217793" indent="-217793">
              <a:buFont typeface="Arial"/>
              <a:buChar char="•"/>
              <a:defRPr/>
            </a:pPr>
            <a:r>
              <a:rPr sz="1200" b="1" i="0" u="none">
                <a:solidFill>
                  <a:srgbClr val="000000"/>
                </a:solidFill>
                <a:latin typeface="Times New Roman"/>
                <a:ea typeface="Times New Roman"/>
                <a:cs typeface="Times New Roman"/>
              </a:rPr>
              <a:t>Clean and Transform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Handle missing values, duplicates, inconsistent formats, and invalid data. </a:t>
            </a:r>
            <a:endParaRPr/>
          </a:p>
          <a:p>
            <a:pPr marL="217793" indent="-217793">
              <a:buFont typeface="Arial"/>
              <a:buChar char="•"/>
              <a:defRPr/>
            </a:pPr>
            <a:r>
              <a:rPr sz="1200" b="1" i="0" u="none">
                <a:solidFill>
                  <a:srgbClr val="000000"/>
                </a:solidFill>
                <a:latin typeface="Times New Roman"/>
                <a:ea typeface="Times New Roman"/>
                <a:cs typeface="Times New Roman"/>
              </a:rPr>
              <a:t>Design a Data Model</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Organize GitHub entities into structured relational tables. </a:t>
            </a:r>
            <a:endParaRPr/>
          </a:p>
          <a:p>
            <a:pPr marL="217793" indent="-217793">
              <a:buFont typeface="Arial"/>
              <a:buChar char="•"/>
              <a:defRPr/>
            </a:pPr>
            <a:r>
              <a:rPr sz="1200" b="1" i="0" u="none">
                <a:solidFill>
                  <a:srgbClr val="000000"/>
                </a:solidFill>
                <a:latin typeface="Times New Roman"/>
                <a:ea typeface="Times New Roman"/>
                <a:cs typeface="Times New Roman"/>
              </a:rPr>
              <a:t>Store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Load the processed data into PostgreSQL for efficient querying. </a:t>
            </a:r>
            <a:endParaRPr/>
          </a:p>
          <a:p>
            <a:pPr marL="217793" indent="-217793">
              <a:buFont typeface="Arial"/>
              <a:buChar char="•"/>
              <a:defRPr/>
            </a:pPr>
            <a:r>
              <a:rPr sz="1200" b="1" i="0" u="none">
                <a:solidFill>
                  <a:srgbClr val="000000"/>
                </a:solidFill>
                <a:latin typeface="Times New Roman"/>
                <a:ea typeface="Times New Roman"/>
                <a:cs typeface="Times New Roman"/>
              </a:rPr>
              <a:t>Perform Data Analytics</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Analyze repository activity, developer contributions, commits, issues, and pull requests. </a:t>
            </a:r>
            <a:endParaRPr/>
          </a:p>
          <a:p>
            <a:pPr marL="217793" indent="-217793">
              <a:buFont typeface="Arial"/>
              <a:buChar char="•"/>
              <a:defRPr/>
            </a:pPr>
            <a:r>
              <a:rPr sz="1200" b="1" i="0" u="none">
                <a:solidFill>
                  <a:srgbClr val="000000"/>
                </a:solidFill>
                <a:latin typeface="Times New Roman"/>
                <a:ea typeface="Times New Roman"/>
                <a:cs typeface="Times New Roman"/>
              </a:rPr>
              <a:t>Generate Visualizations</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Present analytical results through an interactive dashboard. </a:t>
            </a:r>
            <a:endParaRPr/>
          </a:p>
          <a:p>
            <a:pPr marL="217793" indent="-217793">
              <a:buFont typeface="Arial"/>
              <a:buChar char="•"/>
              <a:defRPr/>
            </a:pPr>
            <a:r>
              <a:rPr sz="1200" b="1" i="0" u="none">
                <a:solidFill>
                  <a:srgbClr val="000000"/>
                </a:solidFill>
                <a:latin typeface="Times New Roman"/>
                <a:ea typeface="Times New Roman"/>
                <a:cs typeface="Times New Roman"/>
              </a:rPr>
              <a:t>Build a Scalable Pipeline</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Design the system so that additional repositories, data sources, and processing capabilities can be added later.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941511426"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478395238"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Technologies Used</a:t>
            </a:r>
            <a:endParaRPr lang="en-US" sz="3200"/>
          </a:p>
        </p:txBody>
      </p:sp>
      <p:sp>
        <p:nvSpPr>
          <p:cNvPr id="413165117" name="Shape 2"/>
          <p:cNvSpPr/>
          <p:nvPr/>
        </p:nvSpPr>
        <p:spPr bwMode="auto">
          <a:xfrm>
            <a:off x="457200" y="1097280"/>
            <a:ext cx="2011680" cy="1645920"/>
          </a:xfrm>
          <a:prstGeom prst="roundRect">
            <a:avLst>
              <a:gd name="adj" fmla="val 16667"/>
            </a:avLst>
          </a:prstGeom>
          <a:solidFill>
            <a:srgbClr val="4A90E2"/>
          </a:solidFill>
          <a:ln/>
        </p:spPr>
        <p:txBody>
          <a:bodyPr/>
          <a:lstStyle/>
          <a:p>
            <a:pPr>
              <a:defRPr/>
            </a:pPr>
            <a:endParaRPr lang="en-IN"/>
          </a:p>
        </p:txBody>
      </p:sp>
      <p:sp>
        <p:nvSpPr>
          <p:cNvPr id="2058686696" name="Text 3"/>
          <p:cNvSpPr/>
          <p:nvPr/>
        </p:nvSpPr>
        <p:spPr bwMode="auto">
          <a:xfrm>
            <a:off x="54864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Python</a:t>
            </a:r>
            <a:endParaRPr lang="en-US" sz="1400"/>
          </a:p>
        </p:txBody>
      </p:sp>
      <p:sp>
        <p:nvSpPr>
          <p:cNvPr id="1758375675" name="Text 4"/>
          <p:cNvSpPr/>
          <p:nvPr/>
        </p:nvSpPr>
        <p:spPr bwMode="auto">
          <a:xfrm>
            <a:off x="54864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extraction, processing, and ETL</a:t>
            </a:r>
            <a:endParaRPr lang="en-US" sz="1100"/>
          </a:p>
        </p:txBody>
      </p:sp>
      <p:sp>
        <p:nvSpPr>
          <p:cNvPr id="1287300679" name="Shape 5"/>
          <p:cNvSpPr/>
          <p:nvPr/>
        </p:nvSpPr>
        <p:spPr bwMode="auto">
          <a:xfrm>
            <a:off x="2606040" y="1097280"/>
            <a:ext cx="2011680" cy="1645920"/>
          </a:xfrm>
          <a:prstGeom prst="roundRect">
            <a:avLst>
              <a:gd name="adj" fmla="val 16667"/>
            </a:avLst>
          </a:prstGeom>
          <a:solidFill>
            <a:srgbClr val="E67E22"/>
          </a:solidFill>
          <a:ln/>
        </p:spPr>
        <p:txBody>
          <a:bodyPr/>
          <a:lstStyle/>
          <a:p>
            <a:pPr>
              <a:defRPr/>
            </a:pPr>
            <a:endParaRPr lang="en-IN"/>
          </a:p>
        </p:txBody>
      </p:sp>
      <p:sp>
        <p:nvSpPr>
          <p:cNvPr id="1539664665" name="Text 6"/>
          <p:cNvSpPr/>
          <p:nvPr/>
        </p:nvSpPr>
        <p:spPr bwMode="auto">
          <a:xfrm>
            <a:off x="269748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GitHub REST API</a:t>
            </a:r>
            <a:endParaRPr lang="en-US" sz="1400"/>
          </a:p>
        </p:txBody>
      </p:sp>
      <p:sp>
        <p:nvSpPr>
          <p:cNvPr id="168445722" name="Text 7"/>
          <p:cNvSpPr/>
          <p:nvPr/>
        </p:nvSpPr>
        <p:spPr bwMode="auto">
          <a:xfrm>
            <a:off x="269748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source for repository information</a:t>
            </a:r>
            <a:endParaRPr lang="en-US" sz="1100"/>
          </a:p>
        </p:txBody>
      </p:sp>
      <p:sp>
        <p:nvSpPr>
          <p:cNvPr id="1716267884" name="Shape 8"/>
          <p:cNvSpPr/>
          <p:nvPr/>
        </p:nvSpPr>
        <p:spPr bwMode="auto">
          <a:xfrm>
            <a:off x="4754880" y="1097280"/>
            <a:ext cx="2011680" cy="1645920"/>
          </a:xfrm>
          <a:prstGeom prst="roundRect">
            <a:avLst>
              <a:gd name="adj" fmla="val 16667"/>
            </a:avLst>
          </a:prstGeom>
          <a:solidFill>
            <a:srgbClr val="27AE60"/>
          </a:solidFill>
          <a:ln/>
        </p:spPr>
        <p:txBody>
          <a:bodyPr/>
          <a:lstStyle/>
          <a:p>
            <a:pPr>
              <a:defRPr/>
            </a:pPr>
            <a:endParaRPr lang="en-IN"/>
          </a:p>
        </p:txBody>
      </p:sp>
      <p:sp>
        <p:nvSpPr>
          <p:cNvPr id="1400718170" name="Text 9"/>
          <p:cNvSpPr/>
          <p:nvPr/>
        </p:nvSpPr>
        <p:spPr bwMode="auto">
          <a:xfrm>
            <a:off x="484632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Pandas</a:t>
            </a:r>
            <a:endParaRPr lang="en-US" sz="1400"/>
          </a:p>
        </p:txBody>
      </p:sp>
      <p:sp>
        <p:nvSpPr>
          <p:cNvPr id="46625049" name="Text 10"/>
          <p:cNvSpPr/>
          <p:nvPr/>
        </p:nvSpPr>
        <p:spPr bwMode="auto">
          <a:xfrm>
            <a:off x="484632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manipulation and transformation</a:t>
            </a:r>
            <a:endParaRPr lang="en-US" sz="1100"/>
          </a:p>
        </p:txBody>
      </p:sp>
      <p:sp>
        <p:nvSpPr>
          <p:cNvPr id="1479766901" name="Shape 11"/>
          <p:cNvSpPr/>
          <p:nvPr/>
        </p:nvSpPr>
        <p:spPr bwMode="auto">
          <a:xfrm>
            <a:off x="6903720" y="1097280"/>
            <a:ext cx="2011680" cy="1645920"/>
          </a:xfrm>
          <a:prstGeom prst="roundRect">
            <a:avLst>
              <a:gd name="adj" fmla="val 16667"/>
            </a:avLst>
          </a:prstGeom>
          <a:solidFill>
            <a:srgbClr val="1F3A7F"/>
          </a:solidFill>
          <a:ln/>
        </p:spPr>
        <p:txBody>
          <a:bodyPr/>
          <a:lstStyle/>
          <a:p>
            <a:pPr>
              <a:defRPr/>
            </a:pPr>
            <a:endParaRPr lang="en-IN"/>
          </a:p>
        </p:txBody>
      </p:sp>
      <p:sp>
        <p:nvSpPr>
          <p:cNvPr id="1467258193" name="Text 12"/>
          <p:cNvSpPr/>
          <p:nvPr/>
        </p:nvSpPr>
        <p:spPr bwMode="auto">
          <a:xfrm>
            <a:off x="699516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PostgreSQL</a:t>
            </a:r>
            <a:endParaRPr lang="en-US" sz="1400"/>
          </a:p>
        </p:txBody>
      </p:sp>
      <p:sp>
        <p:nvSpPr>
          <p:cNvPr id="362633268" name="Text 13"/>
          <p:cNvSpPr/>
          <p:nvPr/>
        </p:nvSpPr>
        <p:spPr bwMode="auto">
          <a:xfrm>
            <a:off x="699516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Structured data storage and queries</a:t>
            </a:r>
            <a:endParaRPr lang="en-US" sz="1100"/>
          </a:p>
        </p:txBody>
      </p:sp>
      <p:sp>
        <p:nvSpPr>
          <p:cNvPr id="1657650249" name="Shape 14"/>
          <p:cNvSpPr/>
          <p:nvPr/>
        </p:nvSpPr>
        <p:spPr bwMode="auto">
          <a:xfrm>
            <a:off x="457200" y="2926080"/>
            <a:ext cx="2011680" cy="1645920"/>
          </a:xfrm>
          <a:prstGeom prst="roundRect">
            <a:avLst>
              <a:gd name="adj" fmla="val 16667"/>
            </a:avLst>
          </a:prstGeom>
          <a:solidFill>
            <a:srgbClr val="E67E22"/>
          </a:solidFill>
          <a:ln/>
        </p:spPr>
        <p:txBody>
          <a:bodyPr/>
          <a:lstStyle/>
          <a:p>
            <a:pPr>
              <a:defRPr/>
            </a:pPr>
            <a:endParaRPr lang="en-IN"/>
          </a:p>
        </p:txBody>
      </p:sp>
      <p:sp>
        <p:nvSpPr>
          <p:cNvPr id="1587640271" name="Text 15"/>
          <p:cNvSpPr/>
          <p:nvPr/>
        </p:nvSpPr>
        <p:spPr bwMode="auto">
          <a:xfrm>
            <a:off x="548640" y="30632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 Streamlit</a:t>
            </a:r>
            <a:endParaRPr lang="en-US" sz="1400"/>
          </a:p>
        </p:txBody>
      </p:sp>
      <p:sp>
        <p:nvSpPr>
          <p:cNvPr id="1821770995" name="Text 16"/>
          <p:cNvSpPr/>
          <p:nvPr/>
        </p:nvSpPr>
        <p:spPr bwMode="auto">
          <a:xfrm>
            <a:off x="548640" y="3474720"/>
            <a:ext cx="1828800" cy="100584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Interactive data visualization</a:t>
            </a:r>
            <a:endParaRPr>
              <a:solidFill>
                <a:schemeClr val="bg1"/>
              </a:solidFill>
            </a:endParaRPr>
          </a:p>
        </p:txBody>
      </p:sp>
      <p:sp>
        <p:nvSpPr>
          <p:cNvPr id="1261197292" name="Shape 17"/>
          <p:cNvSpPr/>
          <p:nvPr/>
        </p:nvSpPr>
        <p:spPr bwMode="auto">
          <a:xfrm>
            <a:off x="6903720" y="2926080"/>
            <a:ext cx="2011680" cy="1645920"/>
          </a:xfrm>
          <a:prstGeom prst="roundRect">
            <a:avLst>
              <a:gd name="adj" fmla="val 16667"/>
            </a:avLst>
          </a:prstGeom>
          <a:solidFill>
            <a:srgbClr val="2C3E50"/>
          </a:solidFill>
          <a:ln/>
        </p:spPr>
        <p:txBody>
          <a:bodyPr/>
          <a:lstStyle/>
          <a:p>
            <a:pPr>
              <a:defRPr/>
            </a:pPr>
            <a:endParaRPr lang="en-IN"/>
          </a:p>
        </p:txBody>
      </p:sp>
      <p:sp>
        <p:nvSpPr>
          <p:cNvPr id="817507528" name="Text 18"/>
          <p:cNvSpPr/>
          <p:nvPr/>
        </p:nvSpPr>
        <p:spPr bwMode="auto">
          <a:xfrm>
            <a:off x="6995160" y="3170396"/>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Git/GitHub</a:t>
            </a:r>
            <a:endParaRPr lang="en-US" sz="1400"/>
          </a:p>
        </p:txBody>
      </p:sp>
      <p:sp>
        <p:nvSpPr>
          <p:cNvPr id="437053318" name="Text 19"/>
          <p:cNvSpPr/>
          <p:nvPr/>
        </p:nvSpPr>
        <p:spPr bwMode="auto">
          <a:xfrm>
            <a:off x="6995160" y="34747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Version control &amp; project management</a:t>
            </a:r>
            <a:endParaRPr lang="en-US" sz="1100"/>
          </a:p>
        </p:txBody>
      </p:sp>
      <p:sp>
        <p:nvSpPr>
          <p:cNvPr id="682145422" name="Shape 20"/>
          <p:cNvSpPr/>
          <p:nvPr/>
        </p:nvSpPr>
        <p:spPr bwMode="auto">
          <a:xfrm>
            <a:off x="4754880" y="2926080"/>
            <a:ext cx="2011680" cy="1645920"/>
          </a:xfrm>
          <a:prstGeom prst="roundRect">
            <a:avLst>
              <a:gd name="adj" fmla="val 16667"/>
            </a:avLst>
          </a:prstGeom>
          <a:solidFill>
            <a:srgbClr val="7F8C8D"/>
          </a:solidFill>
          <a:ln/>
        </p:spPr>
        <p:txBody>
          <a:bodyPr/>
          <a:lstStyle/>
          <a:p>
            <a:pPr>
              <a:defRPr/>
            </a:pPr>
            <a:endParaRPr lang="en-IN"/>
          </a:p>
        </p:txBody>
      </p:sp>
      <p:sp>
        <p:nvSpPr>
          <p:cNvPr id="2087853513" name="Text 21"/>
          <p:cNvSpPr/>
          <p:nvPr/>
        </p:nvSpPr>
        <p:spPr bwMode="auto">
          <a:xfrm>
            <a:off x="4846320" y="30632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Docker (Optional)</a:t>
            </a:r>
            <a:endParaRPr lang="en-US" sz="1400"/>
          </a:p>
        </p:txBody>
      </p:sp>
      <p:sp>
        <p:nvSpPr>
          <p:cNvPr id="1534844893" name="Text 22"/>
          <p:cNvSpPr/>
          <p:nvPr/>
        </p:nvSpPr>
        <p:spPr bwMode="auto">
          <a:xfrm>
            <a:off x="4846320" y="34747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Containerization &amp; deployment</a:t>
            </a:r>
            <a:endParaRPr lang="en-US" sz="1100"/>
          </a:p>
        </p:txBody>
      </p:sp>
      <p:sp>
        <p:nvSpPr>
          <p:cNvPr id="149838232" name="Shape 17"/>
          <p:cNvSpPr/>
          <p:nvPr/>
        </p:nvSpPr>
        <p:spPr bwMode="auto">
          <a:xfrm>
            <a:off x="2560320" y="2926080"/>
            <a:ext cx="2011680" cy="1645920"/>
          </a:xfrm>
          <a:prstGeom prst="roundRect">
            <a:avLst>
              <a:gd name="adj" fmla="val 16667"/>
            </a:avLst>
          </a:prstGeom>
          <a:solidFill>
            <a:srgbClr val="2C3E50"/>
          </a:solidFill>
          <a:ln/>
        </p:spPr>
        <p:txBody>
          <a:bodyPr/>
          <a:lstStyle/>
          <a:p>
            <a:pPr>
              <a:defRPr/>
            </a:pPr>
            <a:endParaRPr lang="en-IN"/>
          </a:p>
        </p:txBody>
      </p:sp>
      <p:sp>
        <p:nvSpPr>
          <p:cNvPr id="782195121" name="Text 18"/>
          <p:cNvSpPr/>
          <p:nvPr/>
        </p:nvSpPr>
        <p:spPr bwMode="auto">
          <a:xfrm>
            <a:off x="2651760" y="3170396"/>
            <a:ext cx="1828800" cy="36576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Apache Airflow</a:t>
            </a:r>
            <a:endParaRPr>
              <a:solidFill>
                <a:schemeClr val="bg1"/>
              </a:solidFill>
            </a:endParaRPr>
          </a:p>
        </p:txBody>
      </p:sp>
      <p:sp>
        <p:nvSpPr>
          <p:cNvPr id="1071594256" name="Text 19"/>
          <p:cNvSpPr/>
          <p:nvPr/>
        </p:nvSpPr>
        <p:spPr bwMode="auto">
          <a:xfrm>
            <a:off x="2651760" y="3474720"/>
            <a:ext cx="1828800" cy="100584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Pipeline scheduling and orchestration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840721225" name="Shape 0"/>
          <p:cNvSpPr/>
          <p:nvPr/>
        </p:nvSpPr>
        <p:spPr bwMode="auto">
          <a:xfrm flipH="0" flipV="0">
            <a:off x="0" y="0"/>
            <a:ext cx="4906593" cy="1083468"/>
          </a:xfrm>
          <a:prstGeom prst="rect">
            <a:avLst/>
          </a:prstGeom>
          <a:solidFill>
            <a:srgbClr val="1F3A7F"/>
          </a:solidFill>
          <a:ln/>
        </p:spPr>
        <p:txBody>
          <a:bodyPr/>
          <a:lstStyle/>
          <a:p>
            <a:pPr>
              <a:defRPr/>
            </a:pPr>
            <a:endParaRPr lang="en-IN"/>
          </a:p>
        </p:txBody>
      </p:sp>
      <p:sp>
        <p:nvSpPr>
          <p:cNvPr id="472299863" name="Text 1"/>
          <p:cNvSpPr/>
          <p:nvPr/>
        </p:nvSpPr>
        <p:spPr bwMode="auto">
          <a:xfrm flipH="0" flipV="0">
            <a:off x="457200" y="137159"/>
            <a:ext cx="3639767" cy="946308"/>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System Architecture - Data Pipeline</a:t>
            </a:r>
            <a:endParaRPr lang="en-US" sz="3200"/>
          </a:p>
        </p:txBody>
      </p:sp>
      <p:sp>
        <p:nvSpPr>
          <p:cNvPr id="1112835566" name="Text 19"/>
          <p:cNvSpPr/>
          <p:nvPr/>
        </p:nvSpPr>
        <p:spPr bwMode="auto">
          <a:xfrm flipH="0" flipV="0">
            <a:off x="171450" y="1230629"/>
            <a:ext cx="4318424" cy="274320"/>
          </a:xfrm>
          <a:prstGeom prst="rect">
            <a:avLst/>
          </a:prstGeom>
          <a:noFill/>
          <a:ln/>
        </p:spPr>
        <p:txBody>
          <a:bodyPr wrap="square" rtlCol="0" anchor="ctr"/>
          <a:lstStyle/>
          <a:p>
            <a:pPr marL="0" indent="0">
              <a:buNone/>
              <a:defRPr/>
            </a:pPr>
            <a:r>
              <a:rPr lang="en-US" sz="1400" b="1">
                <a:solidFill>
                  <a:srgbClr val="1F3A7F"/>
                </a:solidFill>
                <a:latin typeface="Calibri"/>
                <a:ea typeface="Calibri"/>
                <a:cs typeface="Calibri"/>
              </a:rPr>
              <a:t>Data Flow Process:</a:t>
            </a:r>
            <a:endParaRPr lang="en-US" sz="1400"/>
          </a:p>
        </p:txBody>
      </p:sp>
      <p:sp>
        <p:nvSpPr>
          <p:cNvPr id="2141892853" name="Text 20"/>
          <p:cNvSpPr/>
          <p:nvPr/>
        </p:nvSpPr>
        <p:spPr bwMode="auto">
          <a:xfrm>
            <a:off x="171450" y="1584483"/>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1. GitHub API: Fetch repository, commit, issue, and contributor data</a:t>
            </a:r>
            <a:endParaRPr lang="en-US" sz="1100"/>
          </a:p>
        </p:txBody>
      </p:sp>
      <p:sp>
        <p:nvSpPr>
          <p:cNvPr id="1187948083" name="Text 21"/>
          <p:cNvSpPr/>
          <p:nvPr/>
        </p:nvSpPr>
        <p:spPr bwMode="auto">
          <a:xfrm>
            <a:off x="171450" y="196767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2. Extraction: Convert API responses to structured format</a:t>
            </a:r>
            <a:endParaRPr lang="en-US" sz="1100"/>
          </a:p>
        </p:txBody>
      </p:sp>
      <p:sp>
        <p:nvSpPr>
          <p:cNvPr id="1561273628" name="Text 22"/>
          <p:cNvSpPr/>
          <p:nvPr/>
        </p:nvSpPr>
        <p:spPr bwMode="auto">
          <a:xfrm>
            <a:off x="171450" y="228771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3. Cleaning: Handle missing values, remove duplicates, validate data</a:t>
            </a:r>
            <a:endParaRPr lang="en-US" sz="1100"/>
          </a:p>
        </p:txBody>
      </p:sp>
      <p:sp>
        <p:nvSpPr>
          <p:cNvPr id="903064187" name="Text 23"/>
          <p:cNvSpPr/>
          <p:nvPr/>
        </p:nvSpPr>
        <p:spPr bwMode="auto">
          <a:xfrm>
            <a:off x="171450" y="267452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4. PostgreSQL: Store processed data in normalized tables</a:t>
            </a:r>
            <a:endParaRPr lang="en-US" sz="1100"/>
          </a:p>
        </p:txBody>
      </p:sp>
      <p:sp>
        <p:nvSpPr>
          <p:cNvPr id="1186405950" name="Text 24"/>
          <p:cNvSpPr/>
          <p:nvPr/>
        </p:nvSpPr>
        <p:spPr bwMode="auto">
          <a:xfrm>
            <a:off x="171450" y="3057715"/>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5. Analytics: Query and aggregate data for insights</a:t>
            </a:r>
            <a:endParaRPr lang="en-US" sz="1100"/>
          </a:p>
        </p:txBody>
      </p:sp>
      <p:sp>
        <p:nvSpPr>
          <p:cNvPr id="1487380963" name="Text 25"/>
          <p:cNvSpPr/>
          <p:nvPr/>
        </p:nvSpPr>
        <p:spPr bwMode="auto">
          <a:xfrm>
            <a:off x="171450" y="3377755"/>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6. Dashboard: Visualize metrics and trends</a:t>
            </a:r>
            <a:endParaRPr lang="en-US" sz="1100"/>
          </a:p>
        </p:txBody>
      </p:sp>
      <p:pic>
        <p:nvPicPr>
          <p:cNvPr id="1432730797" name=""/>
          <p:cNvPicPr>
            <a:picLocks noChangeAspect="1"/>
          </p:cNvPicPr>
          <p:nvPr/>
        </p:nvPicPr>
        <p:blipFill rotWithShape="1">
          <a:blip r:embed="rId3"/>
          <a:srcRect l="27747" t="0" r="28632" b="0"/>
          <a:stretch/>
        </p:blipFill>
        <p:spPr bwMode="auto">
          <a:xfrm flipH="0" flipV="0">
            <a:off x="4836419" y="0"/>
            <a:ext cx="4320704" cy="51315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27AE60"/>
        </a:solidFill>
      </p:bgPr>
    </p:bg>
    <p:spTree>
      <p:nvGrpSpPr>
        <p:cNvPr id="1" name=""/>
        <p:cNvGrpSpPr/>
        <p:nvPr/>
      </p:nvGrpSpPr>
      <p:grpSpPr bwMode="auto">
        <a:xfrm>
          <a:off x="0" y="0"/>
          <a:ext cx="0" cy="0"/>
          <a:chOff x="0" y="0"/>
          <a:chExt cx="0" cy="0"/>
        </a:xfrm>
      </p:grpSpPr>
      <p:sp>
        <p:nvSpPr>
          <p:cNvPr id="44247798" name=""/>
          <p:cNvSpPr/>
          <p:nvPr/>
        </p:nvSpPr>
        <p:spPr bwMode="auto">
          <a:xfrm rot="0" flipH="0" flipV="0">
            <a:off x="-10687" y="-11904"/>
            <a:ext cx="9143999" cy="5298279"/>
          </a:xfrm>
          <a:custGeom>
            <a:avLst/>
            <a:gdLst/>
            <a:ahLst/>
            <a:cxnLst/>
            <a:rect l="0" t="0" r="r" b="b"/>
            <a:pathLst>
              <a:path w="43200" h="43200" fill="norm" stroke="1" extrusionOk="0">
                <a:moveTo>
                  <a:pt x="0" y="0"/>
                </a:moveTo>
                <a:lnTo>
                  <a:pt x="43200" y="0"/>
                </a:lnTo>
                <a:lnTo>
                  <a:pt x="43200" y="43200"/>
                </a:lnTo>
                <a:lnTo>
                  <a:pt x="0" y="43199"/>
                </a:lnTo>
                <a:lnTo>
                  <a:pt x="0" y="0"/>
                </a:lnTo>
                <a:close/>
              </a:path>
            </a:pathLst>
          </a:custGeom>
          <a:solidFill>
            <a:schemeClr val="accent1">
              <a:lumMod val="75000"/>
            </a:schemeClr>
          </a:solidFill>
          <a:ln w="12700" cap="flat" cmpd="sng" algn="ctr">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737527257" name="Text 0"/>
          <p:cNvSpPr/>
          <p:nvPr/>
        </p:nvSpPr>
        <p:spPr bwMode="auto">
          <a:xfrm>
            <a:off x="457200" y="1371600"/>
            <a:ext cx="8229600" cy="914400"/>
          </a:xfrm>
          <a:prstGeom prst="rect">
            <a:avLst/>
          </a:prstGeom>
          <a:noFill/>
          <a:ln/>
        </p:spPr>
        <p:txBody>
          <a:bodyPr wrap="square" rtlCol="0" anchor="ctr"/>
          <a:lstStyle/>
          <a:p>
            <a:pPr marL="0" indent="0" algn="ctr">
              <a:buNone/>
              <a:defRPr/>
            </a:pPr>
            <a:r>
              <a:rPr lang="en-US" sz="4800" b="1">
                <a:solidFill>
                  <a:srgbClr val="FFFFFF"/>
                </a:solidFill>
                <a:latin typeface="Calibri"/>
                <a:ea typeface="Calibri"/>
                <a:cs typeface="Calibri"/>
              </a:rPr>
              <a:t>Thank You</a:t>
            </a:r>
            <a:endParaRPr lang="en-US" sz="4800"/>
          </a:p>
        </p:txBody>
      </p:sp>
      <p:sp>
        <p:nvSpPr>
          <p:cNvPr id="1205241003" name="Text 1"/>
          <p:cNvSpPr/>
          <p:nvPr/>
        </p:nvSpPr>
        <p:spPr bwMode="auto">
          <a:xfrm>
            <a:off x="457200" y="2468880"/>
            <a:ext cx="8229600" cy="548640"/>
          </a:xfrm>
          <a:prstGeom prst="rect">
            <a:avLst/>
          </a:prstGeom>
          <a:noFill/>
          <a:ln/>
        </p:spPr>
        <p:txBody>
          <a:bodyPr wrap="square" rtlCol="0" anchor="ctr"/>
          <a:lstStyle/>
          <a:p>
            <a:pPr marL="0" indent="0" algn="ctr">
              <a:buNone/>
              <a:defRPr/>
            </a:pPr>
            <a:r>
              <a:rPr lang="en-US" sz="2800">
                <a:solidFill>
                  <a:srgbClr val="FFFFFF"/>
                </a:solidFill>
                <a:latin typeface="Calibri"/>
                <a:ea typeface="Calibri"/>
                <a:cs typeface="Calibri"/>
              </a:rPr>
              <a:t>Questions &amp; Discussion</a:t>
            </a:r>
            <a:endParaRPr lang="en-US" sz="2800"/>
          </a:p>
        </p:txBody>
      </p:sp>
      <p:sp>
        <p:nvSpPr>
          <p:cNvPr id="1465484515" name="Shape 2"/>
          <p:cNvSpPr/>
          <p:nvPr/>
        </p:nvSpPr>
        <p:spPr bwMode="auto">
          <a:xfrm>
            <a:off x="2286000" y="3291840"/>
            <a:ext cx="4572000" cy="1097280"/>
          </a:xfrm>
          <a:prstGeom prst="rect">
            <a:avLst/>
          </a:prstGeom>
          <a:solidFill>
            <a:srgbClr val="FFFFFF"/>
          </a:solidFill>
          <a:ln/>
        </p:spPr>
        <p:txBody>
          <a:bodyPr/>
          <a:lstStyle/>
          <a:p>
            <a:pPr>
              <a:defRPr/>
            </a:pPr>
            <a:endParaRPr lang="en-IN"/>
          </a:p>
        </p:txBody>
      </p:sp>
      <p:sp>
        <p:nvSpPr>
          <p:cNvPr id="1234915612" name="Text 3"/>
          <p:cNvSpPr/>
          <p:nvPr/>
        </p:nvSpPr>
        <p:spPr bwMode="auto">
          <a:xfrm>
            <a:off x="2468880" y="3383280"/>
            <a:ext cx="4206240" cy="914400"/>
          </a:xfrm>
          <a:prstGeom prst="rect">
            <a:avLst/>
          </a:prstGeom>
          <a:noFill/>
          <a:ln/>
        </p:spPr>
        <p:txBody>
          <a:bodyPr wrap="square" rtlCol="0" anchor="ctr"/>
          <a:lstStyle/>
          <a:p>
            <a:pPr marL="0" indent="0" algn="ctr">
              <a:buNone/>
              <a:defRPr/>
            </a:pPr>
            <a:r>
              <a:rPr lang="en-US" sz="1300">
                <a:solidFill>
                  <a:srgbClr val="1F3A7F"/>
                </a:solidFill>
                <a:latin typeface="Calibri"/>
                <a:ea typeface="Calibri"/>
                <a:cs typeface="Calibri"/>
              </a:rPr>
              <a:t>Feel free to ask any questions about the architecture, implementation, or any aspects of the project.</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6</cp:revision>
  <dcterms:created xsi:type="dcterms:W3CDTF">2026-08-08T05:13:43Z</dcterms:created>
  <dcterms:modified xsi:type="dcterms:W3CDTF">2026-08-11T05:32:38Z</dcterms:modified>
</cp:coreProperties>
</file>