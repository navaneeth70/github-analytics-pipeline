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6.xml" ContentType="application/vnd.openxmlformats-officedocument.presentationml.notesSlide+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Masters/notesMaster1.xml" ContentType="application/vnd.openxmlformats-officedocument.presentationml.notesMaster+xml"/>
  <Override PartName="/ppt/slides/slide6.xml" ContentType="application/vnd.openxmlformats-officedocument.presentationml.slide+xml"/>
  <Override PartName="/ppt/presProps.xml" ContentType="application/vnd.openxmlformats-officedocument.presentationml.presProps+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ppt/slideLayouts/slideLayout1.xml" ContentType="application/vnd.openxmlformats-officedocument.presentationml.slideLayout+xml"/>
  <Override PartName="/ppt/slides/slide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0"/>
  </p:notesMasterIdLst>
  <p:sldIdLst>
    <p:sldId id="256" r:id="rId4"/>
    <p:sldId id="257" r:id="rId5"/>
    <p:sldId id="258" r:id="rId6"/>
    <p:sldId id="259" r:id="rId7"/>
    <p:sldId id="260" r:id="rId8"/>
    <p:sldId id="261" r:id="rId9"/>
  </p:sldIdLst>
  <p:sldSz cx="9144000" cy="5143500" type="screen16x9"/>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07" d="100"/>
          <a:sy n="107" d="100"/>
        </p:scale>
        <p:origin x="754" y="110"/>
      </p:cViewPr>
      <p:guideLst>
        <p:guide pos="2880"/>
        <p:guide pos="162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notesMaster" Target="notesMasters/notesMaster1.xml"/><Relationship Id="rId11" Type="http://schemas.openxmlformats.org/officeDocument/2006/relationships/presProps" Target="presProps.xml" /><Relationship Id="rId12" Type="http://schemas.openxmlformats.org/officeDocument/2006/relationships/tableStyles" Target="tableStyles.xml" /><Relationship Id="rId1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94095981" name="Slide Image Placeholder 1"/>
          <p:cNvSpPr>
            <a:spLocks noChangeAspect="1" noGrp="1" noRot="1"/>
          </p:cNvSpPr>
          <p:nvPr>
            <p:ph type="sldImg"/>
          </p:nvPr>
        </p:nvSpPr>
        <p:spPr bwMode="auto"/>
      </p:sp>
      <p:sp>
        <p:nvSpPr>
          <p:cNvPr id="1656860525" name="Notes Placeholder 2"/>
          <p:cNvSpPr>
            <a:spLocks noGrp="1"/>
          </p:cNvSpPr>
          <p:nvPr>
            <p:ph type="body" idx="1"/>
          </p:nvPr>
        </p:nvSpPr>
        <p:spPr bwMode="auto"/>
        <p:txBody>
          <a:bodyPr/>
          <a:lstStyle/>
          <a:p>
            <a:pPr>
              <a:defRPr/>
            </a:pPr>
            <a:r>
              <a:rPr lang="en-US"/>
              <a:t>Welcome to the GitHub Analytics Pipeline project presentation. This project demonstrates the complete data engineering workflow from data extraction through analytics. We will cover the architecture, implementation details, and key learnings from this project.</a:t>
            </a:r>
            <a:endParaRPr/>
          </a:p>
        </p:txBody>
      </p:sp>
      <p:sp>
        <p:nvSpPr>
          <p:cNvPr id="13526839"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33400276" name="Slide Image Placeholder 1"/>
          <p:cNvSpPr>
            <a:spLocks noChangeAspect="1" noGrp="1" noRot="1"/>
          </p:cNvSpPr>
          <p:nvPr>
            <p:ph type="sldImg"/>
          </p:nvPr>
        </p:nvSpPr>
        <p:spPr bwMode="auto"/>
      </p:sp>
      <p:sp>
        <p:nvSpPr>
          <p:cNvPr id="595066907" name="Notes Placeholder 2"/>
          <p:cNvSpPr>
            <a:spLocks noGrp="1"/>
          </p:cNvSpPr>
          <p:nvPr>
            <p:ph type="body" idx="1"/>
          </p:nvPr>
        </p:nvSpPr>
        <p:spPr bwMode="auto"/>
        <p:txBody>
          <a:bodyPr/>
          <a:lstStyle/>
          <a:p>
            <a:pPr>
              <a:defRPr/>
            </a:pPr>
            <a:r>
              <a:rPr lang="en-US"/>
              <a:t>The project has five main objectives. First, we extract data from GitHub repositories using the REST API. Second, we implement data cleaning to handle missing values and inconsistencies. Third, we store the processed data in PostgreSQL for efficient querying. Fourth, we analyze patterns in repository activity. Finally, we generate visualizations and dashboards that provide actionable insights.</a:t>
            </a:r>
            <a:endParaRPr/>
          </a:p>
        </p:txBody>
      </p:sp>
      <p:sp>
        <p:nvSpPr>
          <p:cNvPr id="222777946"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76225683" name="Slide Image Placeholder 1"/>
          <p:cNvSpPr>
            <a:spLocks noChangeAspect="1" noGrp="1" noRot="1"/>
          </p:cNvSpPr>
          <p:nvPr>
            <p:ph type="sldImg"/>
          </p:nvPr>
        </p:nvSpPr>
        <p:spPr bwMode="auto"/>
      </p:sp>
      <p:sp>
        <p:nvSpPr>
          <p:cNvPr id="1895431278" name="Notes Placeholder 2"/>
          <p:cNvSpPr>
            <a:spLocks noGrp="1"/>
          </p:cNvSpPr>
          <p:nvPr>
            <p:ph type="body" idx="1"/>
          </p:nvPr>
        </p:nvSpPr>
        <p:spPr bwMode="auto"/>
        <p:txBody>
          <a:bodyPr/>
          <a:lstStyle/>
          <a:p>
            <a:pPr>
              <a:defRPr/>
            </a:pPr>
            <a:r>
              <a:rPr lang="en-US"/>
              <a:t>We use Python as the primary programming language for its rich ecosystem of data tools. The GitHub REST API is our data source. Pandas is used for efficient data manipulation. PostgreSQL is our database for storing structured data. We use Power BI or Streamlit for visualization. Git and GitHub provide version control.</a:t>
            </a:r>
            <a:endParaRPr/>
          </a:p>
        </p:txBody>
      </p:sp>
      <p:sp>
        <p:nvSpPr>
          <p:cNvPr id="852885327"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7384084" name="Slide Image Placeholder 1"/>
          <p:cNvSpPr>
            <a:spLocks noChangeAspect="1" noGrp="1" noRot="1"/>
          </p:cNvSpPr>
          <p:nvPr>
            <p:ph type="sldImg"/>
          </p:nvPr>
        </p:nvSpPr>
        <p:spPr bwMode="auto"/>
      </p:sp>
      <p:sp>
        <p:nvSpPr>
          <p:cNvPr id="234452676" name="Notes Placeholder 2"/>
          <p:cNvSpPr>
            <a:spLocks noGrp="1"/>
          </p:cNvSpPr>
          <p:nvPr>
            <p:ph type="body" idx="1"/>
          </p:nvPr>
        </p:nvSpPr>
        <p:spPr bwMode="auto"/>
        <p:txBody>
          <a:bodyPr/>
          <a:lstStyle/>
          <a:p>
            <a:pPr>
              <a:defRPr/>
            </a:pPr>
            <a:endParaRPr/>
          </a:p>
        </p:txBody>
      </p:sp>
      <p:sp>
        <p:nvSpPr>
          <p:cNvPr id="1528973651" name="Slide Number Placeholder 3"/>
          <p:cNvSpPr>
            <a:spLocks noGrp="1"/>
          </p:cNvSpPr>
          <p:nvPr>
            <p:ph type="sldNum" sz="quarter" idx="10"/>
          </p:nvPr>
        </p:nvSpPr>
        <p:spPr bwMode="auto"/>
        <p:txBody>
          <a:bodyPr/>
          <a:lstStyle/>
          <a:p>
            <a:pPr>
              <a:defRPr/>
            </a:pPr>
            <a:fld id="{D74E372A-ED5E-0934-28EC-EB87C6CA5DD5}"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0041286" name="Slide Image Placeholder 1"/>
          <p:cNvSpPr>
            <a:spLocks noChangeAspect="1" noGrp="1" noRot="1"/>
          </p:cNvSpPr>
          <p:nvPr>
            <p:ph type="sldImg"/>
          </p:nvPr>
        </p:nvSpPr>
        <p:spPr bwMode="auto"/>
      </p:sp>
      <p:sp>
        <p:nvSpPr>
          <p:cNvPr id="1028843482" name="Notes Placeholder 2"/>
          <p:cNvSpPr>
            <a:spLocks noGrp="1"/>
          </p:cNvSpPr>
          <p:nvPr>
            <p:ph type="body" idx="1"/>
          </p:nvPr>
        </p:nvSpPr>
        <p:spPr bwMode="auto"/>
        <p:txBody>
          <a:bodyPr/>
          <a:lstStyle/>
          <a:p>
            <a:pPr>
              <a:defRPr/>
            </a:pPr>
            <a:r>
              <a:rPr lang="en-US"/>
              <a:t>The architecture follows a classic ETL pipeline. First, we extract data from the GitHub API. The raw API response is then parsed and transformed into a consistent format. Next, we perform data cleaning including handling missing values and removing duplicates. The cleaned data is loaded into PostgreSQL where it is organized into normalized tables. Finally, we perform analytics queries and create visualizations through a dashboard.</a:t>
            </a:r>
            <a:endParaRPr/>
          </a:p>
        </p:txBody>
      </p:sp>
      <p:sp>
        <p:nvSpPr>
          <p:cNvPr id="161653394"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01603265" name="Slide Image Placeholder 1"/>
          <p:cNvSpPr>
            <a:spLocks noChangeAspect="1" noGrp="1" noRot="1"/>
          </p:cNvSpPr>
          <p:nvPr>
            <p:ph type="sldImg"/>
          </p:nvPr>
        </p:nvSpPr>
        <p:spPr bwMode="auto"/>
      </p:sp>
      <p:sp>
        <p:nvSpPr>
          <p:cNvPr id="2066349213" name="Notes Placeholder 2"/>
          <p:cNvSpPr>
            <a:spLocks noGrp="1"/>
          </p:cNvSpPr>
          <p:nvPr>
            <p:ph type="body" idx="1"/>
          </p:nvPr>
        </p:nvSpPr>
        <p:spPr bwMode="auto"/>
        <p:txBody>
          <a:bodyPr/>
          <a:lstStyle/>
          <a:p>
            <a:pPr>
              <a:defRPr/>
            </a:pPr>
            <a:endParaRPr/>
          </a:p>
        </p:txBody>
      </p:sp>
      <p:sp>
        <p:nvSpPr>
          <p:cNvPr id="1654247638"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1F3A7F"/>
        </a:solidFill>
      </p:bgPr>
    </p:bg>
    <p:spTree>
      <p:nvGrpSpPr>
        <p:cNvPr id="1" name=""/>
        <p:cNvGrpSpPr/>
        <p:nvPr/>
      </p:nvGrpSpPr>
      <p:grpSpPr bwMode="auto">
        <a:xfrm>
          <a:off x="0" y="0"/>
          <a:ext cx="0" cy="0"/>
          <a:chOff x="0" y="0"/>
          <a:chExt cx="0" cy="0"/>
        </a:xfrm>
      </p:grpSpPr>
      <p:sp>
        <p:nvSpPr>
          <p:cNvPr id="386074329" name="Text 0"/>
          <p:cNvSpPr/>
          <p:nvPr/>
        </p:nvSpPr>
        <p:spPr bwMode="auto">
          <a:xfrm>
            <a:off x="323557" y="1389625"/>
            <a:ext cx="8229600" cy="914400"/>
          </a:xfrm>
          <a:prstGeom prst="rect">
            <a:avLst/>
          </a:prstGeom>
          <a:noFill/>
          <a:ln/>
        </p:spPr>
        <p:txBody>
          <a:bodyPr wrap="square" rtlCol="0" anchor="ctr"/>
          <a:lstStyle/>
          <a:p>
            <a:pPr marL="0" indent="0" algn="ctr">
              <a:buNone/>
              <a:defRPr/>
            </a:pPr>
            <a:r>
              <a:rPr lang="en-US" sz="4400" b="1">
                <a:solidFill>
                  <a:srgbClr val="FFFFFF"/>
                </a:solidFill>
                <a:latin typeface="Calibri"/>
                <a:ea typeface="Calibri"/>
                <a:cs typeface="Calibri"/>
              </a:rPr>
              <a:t>GitHub Analytics Pipeline</a:t>
            </a:r>
            <a:endParaRPr lang="en-US" sz="4400"/>
          </a:p>
        </p:txBody>
      </p:sp>
      <p:sp>
        <p:nvSpPr>
          <p:cNvPr id="354243338" name="Text 1"/>
          <p:cNvSpPr/>
          <p:nvPr/>
        </p:nvSpPr>
        <p:spPr bwMode="auto">
          <a:xfrm>
            <a:off x="323557" y="2722098"/>
            <a:ext cx="8229600" cy="731520"/>
          </a:xfrm>
          <a:prstGeom prst="rect">
            <a:avLst/>
          </a:prstGeom>
          <a:noFill/>
          <a:ln/>
        </p:spPr>
        <p:txBody>
          <a:bodyPr wrap="square" rtlCol="0" anchor="ctr"/>
          <a:lstStyle/>
          <a:p>
            <a:pPr marL="0" indent="0" algn="ctr">
              <a:buNone/>
              <a:defRPr/>
            </a:pPr>
            <a:r>
              <a:rPr lang="en-US" sz="2400" b="1">
                <a:solidFill>
                  <a:schemeClr val="bg2">
                    <a:lumMod val="75000"/>
                  </a:schemeClr>
                </a:solidFill>
                <a:ea typeface="Calibri"/>
                <a:cs typeface="Calibri"/>
              </a:rPr>
              <a:t>Fundamentals of Data Engineering</a:t>
            </a:r>
            <a:endParaRPr/>
          </a:p>
          <a:p>
            <a:pPr algn="ctr">
              <a:defRPr/>
            </a:pPr>
            <a:r>
              <a:rPr lang="en-US" sz="2400" b="1" cap="all">
                <a:ln/>
                <a:solidFill>
                  <a:schemeClr val="bg2">
                    <a:lumMod val="75000"/>
                  </a:schemeClr>
                </a:solidFill>
                <a:cs typeface="Poppins"/>
              </a:rPr>
              <a:t>COURSE CODE: 24DEA3101R</a:t>
            </a:r>
            <a:endParaRPr/>
          </a:p>
          <a:p>
            <a:pPr marL="0" indent="0" algn="ctr">
              <a:buNone/>
              <a:defRPr/>
            </a:pPr>
            <a:endParaRPr lang="en-US" sz="2400"/>
          </a:p>
        </p:txBody>
      </p:sp>
      <p:sp>
        <p:nvSpPr>
          <p:cNvPr id="2025670183" name="Text 2"/>
          <p:cNvSpPr/>
          <p:nvPr/>
        </p:nvSpPr>
        <p:spPr bwMode="auto">
          <a:xfrm>
            <a:off x="269197" y="4194810"/>
            <a:ext cx="8229600" cy="365760"/>
          </a:xfrm>
          <a:prstGeom prst="rect">
            <a:avLst/>
          </a:prstGeom>
          <a:noFill/>
          <a:ln/>
        </p:spPr>
        <p:txBody>
          <a:bodyPr wrap="square" rtlCol="0" anchor="ctr"/>
          <a:lstStyle/>
          <a:p>
            <a:pPr marL="0" indent="0" algn="ctr">
              <a:buNone/>
              <a:defRPr/>
            </a:pPr>
            <a:r>
              <a:rPr lang="en-US" sz="1400" u="sng">
                <a:solidFill>
                  <a:schemeClr val="bg1"/>
                </a:solidFill>
              </a:rPr>
              <a:t>Team 10</a:t>
            </a:r>
            <a:endParaRPr/>
          </a:p>
          <a:p>
            <a:pPr marL="0" indent="0" algn="ctr">
              <a:buNone/>
              <a:defRPr/>
            </a:pPr>
            <a:r>
              <a:rPr lang="en-US" sz="1400">
                <a:solidFill>
                  <a:schemeClr val="bg1"/>
                </a:solidFill>
              </a:rPr>
              <a:t> Satya Austin Abner – 2420030587</a:t>
            </a:r>
            <a:endParaRPr/>
          </a:p>
          <a:p>
            <a:pPr algn="ctr">
              <a:defRPr/>
            </a:pPr>
            <a:r>
              <a:rPr lang="en-US" sz="1400">
                <a:solidFill>
                  <a:schemeClr val="bg1"/>
                </a:solidFill>
              </a:rPr>
              <a:t> Animesh Balaji  - 2420030301</a:t>
            </a:r>
            <a:endParaRPr/>
          </a:p>
          <a:p>
            <a:pPr algn="ctr">
              <a:defRPr/>
            </a:pPr>
            <a:r>
              <a:rPr lang="en-US" sz="1400">
                <a:solidFill>
                  <a:schemeClr val="bg1"/>
                </a:solidFill>
              </a:rPr>
              <a:t>Navaneeth - 2420030306</a:t>
            </a:r>
            <a:endParaRPr/>
          </a:p>
          <a:p>
            <a:pPr marL="0" indent="0" algn="ctr">
              <a:buNone/>
              <a:defRPr/>
            </a:pPr>
            <a:endParaRPr lang="en-US" sz="1400">
              <a:solidFill>
                <a:schemeClr val="bg1"/>
              </a:solidFill>
            </a:endParaRPr>
          </a:p>
          <a:p>
            <a:pPr algn="ctr">
              <a:defRPr/>
            </a:pPr>
            <a:endParaRPr lang="en-US" sz="1400">
              <a:solidFill>
                <a:schemeClr val="bg1"/>
              </a:solidFill>
            </a:endParaRPr>
          </a:p>
        </p:txBody>
      </p:sp>
      <p:sp>
        <p:nvSpPr>
          <p:cNvPr id="809645123" name="Text 4"/>
          <p:cNvSpPr/>
          <p:nvPr/>
        </p:nvSpPr>
        <p:spPr bwMode="auto">
          <a:xfrm>
            <a:off x="147711" y="765810"/>
            <a:ext cx="8229600" cy="365760"/>
          </a:xfrm>
          <a:prstGeom prst="rect">
            <a:avLst/>
          </a:prstGeom>
          <a:noFill/>
          <a:ln/>
        </p:spPr>
        <p:txBody>
          <a:bodyPr wrap="square" rtlCol="0" anchor="ctr"/>
          <a:lstStyle/>
          <a:p>
            <a:pPr algn="ctr">
              <a:defRPr/>
            </a:pPr>
            <a:r>
              <a:rPr lang="en-US" sz="1100" b="1">
                <a:solidFill>
                  <a:schemeClr val="bg1"/>
                </a:solidFill>
              </a:rPr>
              <a:t>DEPARTMENT OF COMPUTER SCIENCE AND ENGINEERING</a:t>
            </a:r>
            <a:endParaRPr/>
          </a:p>
        </p:txBody>
      </p:sp>
      <p:pic>
        <p:nvPicPr>
          <p:cNvPr id="525117497" name="Picture 8" descr="Contact Bachupally-Bowrampet, Hyderabad Campus - KLH University"/>
          <p:cNvPicPr>
            <a:picLocks noChangeAspect="1"/>
          </p:cNvPicPr>
          <p:nvPr/>
        </p:nvPicPr>
        <p:blipFill rotWithShape="1">
          <a:blip r:embed="rId3"/>
          <a:stretch/>
        </p:blipFill>
        <p:spPr bwMode="auto">
          <a:xfrm>
            <a:off x="3284806" y="34290"/>
            <a:ext cx="1784045" cy="73152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FFFFF"/>
        </a:solidFill>
      </p:bgPr>
    </p:bg>
    <p:spTree>
      <p:nvGrpSpPr>
        <p:cNvPr id="1" name=""/>
        <p:cNvGrpSpPr/>
        <p:nvPr/>
      </p:nvGrpSpPr>
      <p:grpSpPr bwMode="auto">
        <a:xfrm>
          <a:off x="0" y="0"/>
          <a:ext cx="0" cy="0"/>
          <a:chOff x="0" y="0"/>
          <a:chExt cx="0" cy="0"/>
        </a:xfrm>
      </p:grpSpPr>
      <p:sp>
        <p:nvSpPr>
          <p:cNvPr id="1908400888" name="Shape 0"/>
          <p:cNvSpPr/>
          <p:nvPr/>
        </p:nvSpPr>
        <p:spPr bwMode="auto">
          <a:xfrm>
            <a:off x="0" y="0"/>
            <a:ext cx="9144000" cy="731520"/>
          </a:xfrm>
          <a:prstGeom prst="rect">
            <a:avLst/>
          </a:prstGeom>
          <a:solidFill>
            <a:srgbClr val="1F3A7F"/>
          </a:solidFill>
          <a:ln/>
        </p:spPr>
        <p:txBody>
          <a:bodyPr/>
          <a:lstStyle/>
          <a:p>
            <a:pPr>
              <a:defRPr/>
            </a:pPr>
            <a:endParaRPr lang="en-IN"/>
          </a:p>
        </p:txBody>
      </p:sp>
      <p:sp>
        <p:nvSpPr>
          <p:cNvPr id="1828813079" name="Text 1"/>
          <p:cNvSpPr/>
          <p:nvPr/>
        </p:nvSpPr>
        <p:spPr bwMode="auto">
          <a:xfrm>
            <a:off x="457200" y="137160"/>
            <a:ext cx="8229600" cy="457200"/>
          </a:xfrm>
          <a:prstGeom prst="rect">
            <a:avLst/>
          </a:prstGeom>
          <a:noFill/>
          <a:ln/>
        </p:spPr>
        <p:txBody>
          <a:bodyPr wrap="square" rtlCol="0" anchor="ctr"/>
          <a:lstStyle/>
          <a:p>
            <a:pPr marL="0" indent="0" algn="l">
              <a:buNone/>
              <a:defRPr/>
            </a:pPr>
            <a:r>
              <a:rPr lang="en-US" sz="3200" b="1">
                <a:solidFill>
                  <a:srgbClr val="FFFFFF"/>
                </a:solidFill>
                <a:latin typeface="Calibri"/>
                <a:ea typeface="Calibri"/>
                <a:cs typeface="Calibri"/>
              </a:rPr>
              <a:t>Project Objectives</a:t>
            </a:r>
            <a:endParaRPr lang="en-US" sz="3200"/>
          </a:p>
        </p:txBody>
      </p:sp>
      <p:sp>
        <p:nvSpPr>
          <p:cNvPr id="413164193" name="Shape 2"/>
          <p:cNvSpPr/>
          <p:nvPr/>
        </p:nvSpPr>
        <p:spPr bwMode="auto">
          <a:xfrm flipH="0" flipV="0">
            <a:off x="373856" y="1051560"/>
            <a:ext cx="8247487" cy="3770471"/>
          </a:xfrm>
          <a:prstGeom prst="rect">
            <a:avLst/>
          </a:prstGeom>
          <a:solidFill>
            <a:srgbClr val="ECF0F1"/>
          </a:solidFill>
          <a:ln w="25400">
            <a:solidFill>
              <a:srgbClr val="4A90E2"/>
            </a:solidFill>
            <a:prstDash val="solid"/>
          </a:ln>
        </p:spPr>
        <p:txBody>
          <a:bodyPr/>
          <a:lstStyle/>
          <a:p>
            <a:pPr>
              <a:defRPr/>
            </a:pPr>
            <a:endParaRPr lang="en-IN"/>
          </a:p>
        </p:txBody>
      </p:sp>
      <p:sp>
        <p:nvSpPr>
          <p:cNvPr id="1964404351" name="Text 3"/>
          <p:cNvSpPr/>
          <p:nvPr/>
        </p:nvSpPr>
        <p:spPr bwMode="auto">
          <a:xfrm flipH="0" flipV="0">
            <a:off x="731519" y="1188720"/>
            <a:ext cx="7556448" cy="3454717"/>
          </a:xfrm>
          <a:prstGeom prst="rect">
            <a:avLst/>
          </a:prstGeom>
          <a:noFill/>
          <a:ln/>
        </p:spPr>
        <p:txBody>
          <a:bodyPr wrap="square" rtlCol="0" anchor="ctr"/>
          <a:lstStyle/>
          <a:p>
            <a:pPr>
              <a:defRPr/>
            </a:pPr>
            <a:r>
              <a:rPr sz="1400" b="1" i="0" u="sng">
                <a:solidFill>
                  <a:srgbClr val="000000"/>
                </a:solidFill>
                <a:latin typeface="Times New Roman"/>
                <a:ea typeface="Times New Roman"/>
                <a:cs typeface="Times New Roman"/>
              </a:rPr>
              <a:t>Main Objectives</a:t>
            </a:r>
            <a:r>
              <a:rPr u="sng"/>
              <a:t>:-</a:t>
            </a:r>
            <a:endParaRPr u="sng"/>
          </a:p>
          <a:p>
            <a:pPr marL="217793" indent="-217793">
              <a:buFont typeface="Arial"/>
              <a:buChar char="•"/>
              <a:defRPr/>
            </a:pPr>
            <a:r>
              <a:rPr sz="1200" b="1" i="0" u="none">
                <a:solidFill>
                  <a:srgbClr val="000000"/>
                </a:solidFill>
                <a:latin typeface="Times New Roman"/>
                <a:ea typeface="Times New Roman"/>
                <a:cs typeface="Times New Roman"/>
              </a:rPr>
              <a:t>Extract GitHub Data</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Collect repository, commit, issue, pull-request, and contributor data using the GitHub REST API. </a:t>
            </a:r>
            <a:endParaRPr/>
          </a:p>
          <a:p>
            <a:pPr marL="217793" indent="-217793">
              <a:buFont typeface="Arial"/>
              <a:buChar char="•"/>
              <a:defRPr/>
            </a:pPr>
            <a:r>
              <a:rPr sz="1200" b="1" i="0" u="none">
                <a:solidFill>
                  <a:srgbClr val="000000"/>
                </a:solidFill>
                <a:latin typeface="Times New Roman"/>
                <a:ea typeface="Times New Roman"/>
                <a:cs typeface="Times New Roman"/>
              </a:rPr>
              <a:t>Perform Data Ingestion</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Build a reliable process for retrieving and storing data from GitHub. </a:t>
            </a:r>
            <a:endParaRPr/>
          </a:p>
          <a:p>
            <a:pPr marL="217793" indent="-217793">
              <a:buFont typeface="Arial"/>
              <a:buChar char="•"/>
              <a:defRPr/>
            </a:pPr>
            <a:r>
              <a:rPr sz="1200" b="1" i="0" u="none">
                <a:solidFill>
                  <a:srgbClr val="000000"/>
                </a:solidFill>
                <a:latin typeface="Times New Roman"/>
                <a:ea typeface="Times New Roman"/>
                <a:cs typeface="Times New Roman"/>
              </a:rPr>
              <a:t>Clean and Transform Data</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Handle missing values, duplicates, inconsistent formats, and invalid data. </a:t>
            </a:r>
            <a:endParaRPr/>
          </a:p>
          <a:p>
            <a:pPr marL="217793" indent="-217793">
              <a:buFont typeface="Arial"/>
              <a:buChar char="•"/>
              <a:defRPr/>
            </a:pPr>
            <a:r>
              <a:rPr sz="1200" b="1" i="0" u="none">
                <a:solidFill>
                  <a:srgbClr val="000000"/>
                </a:solidFill>
                <a:latin typeface="Times New Roman"/>
                <a:ea typeface="Times New Roman"/>
                <a:cs typeface="Times New Roman"/>
              </a:rPr>
              <a:t>Design a Data Model</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Organize GitHub entities into structured relational tables. </a:t>
            </a:r>
            <a:endParaRPr/>
          </a:p>
          <a:p>
            <a:pPr marL="217793" indent="-217793">
              <a:buFont typeface="Arial"/>
              <a:buChar char="•"/>
              <a:defRPr/>
            </a:pPr>
            <a:r>
              <a:rPr sz="1200" b="1" i="0" u="none">
                <a:solidFill>
                  <a:srgbClr val="000000"/>
                </a:solidFill>
                <a:latin typeface="Times New Roman"/>
                <a:ea typeface="Times New Roman"/>
                <a:cs typeface="Times New Roman"/>
              </a:rPr>
              <a:t>Store Data</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Load the processed data into PostgreSQL for efficient querying. </a:t>
            </a:r>
            <a:endParaRPr/>
          </a:p>
          <a:p>
            <a:pPr marL="217793" indent="-217793">
              <a:buFont typeface="Arial"/>
              <a:buChar char="•"/>
              <a:defRPr/>
            </a:pPr>
            <a:r>
              <a:rPr sz="1200" b="1" i="0" u="none">
                <a:solidFill>
                  <a:srgbClr val="000000"/>
                </a:solidFill>
                <a:latin typeface="Times New Roman"/>
                <a:ea typeface="Times New Roman"/>
                <a:cs typeface="Times New Roman"/>
              </a:rPr>
              <a:t>Perform Data Analytics</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Analyze repository activity, developer contributions, commits, issues, and pull requests. </a:t>
            </a:r>
            <a:endParaRPr/>
          </a:p>
          <a:p>
            <a:pPr marL="217793" indent="-217793">
              <a:buFont typeface="Arial"/>
              <a:buChar char="•"/>
              <a:defRPr/>
            </a:pPr>
            <a:r>
              <a:rPr sz="1200" b="1" i="0" u="none">
                <a:solidFill>
                  <a:srgbClr val="000000"/>
                </a:solidFill>
                <a:latin typeface="Times New Roman"/>
                <a:ea typeface="Times New Roman"/>
                <a:cs typeface="Times New Roman"/>
              </a:rPr>
              <a:t>Generate Visualizations</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Present analytical results through an interactive dashboard. </a:t>
            </a:r>
            <a:endParaRPr/>
          </a:p>
          <a:p>
            <a:pPr marL="217793" indent="-217793">
              <a:buFont typeface="Arial"/>
              <a:buChar char="•"/>
              <a:defRPr/>
            </a:pPr>
            <a:r>
              <a:rPr sz="1200" b="1" i="0" u="none">
                <a:solidFill>
                  <a:srgbClr val="000000"/>
                </a:solidFill>
                <a:latin typeface="Times New Roman"/>
                <a:ea typeface="Times New Roman"/>
                <a:cs typeface="Times New Roman"/>
              </a:rPr>
              <a:t>Build a Scalable Pipeline</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 Design the system so that additional repositories, data sources, and processing capabilities can be added later.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sp>
        <p:nvSpPr>
          <p:cNvPr id="1989513043" name="Shape 0"/>
          <p:cNvSpPr/>
          <p:nvPr/>
        </p:nvSpPr>
        <p:spPr bwMode="auto">
          <a:xfrm>
            <a:off x="0" y="0"/>
            <a:ext cx="9144000" cy="731520"/>
          </a:xfrm>
          <a:prstGeom prst="rect">
            <a:avLst/>
          </a:prstGeom>
          <a:solidFill>
            <a:srgbClr val="1F3A7F"/>
          </a:solidFill>
          <a:ln/>
        </p:spPr>
        <p:txBody>
          <a:bodyPr/>
          <a:lstStyle/>
          <a:p>
            <a:pPr>
              <a:defRPr/>
            </a:pPr>
            <a:endParaRPr lang="en-IN"/>
          </a:p>
        </p:txBody>
      </p:sp>
      <p:sp>
        <p:nvSpPr>
          <p:cNvPr id="1944779211" name="Text 1"/>
          <p:cNvSpPr/>
          <p:nvPr/>
        </p:nvSpPr>
        <p:spPr bwMode="auto">
          <a:xfrm>
            <a:off x="457200" y="137160"/>
            <a:ext cx="8229600" cy="457200"/>
          </a:xfrm>
          <a:prstGeom prst="rect">
            <a:avLst/>
          </a:prstGeom>
          <a:noFill/>
          <a:ln/>
        </p:spPr>
        <p:txBody>
          <a:bodyPr wrap="square" rtlCol="0" anchor="ctr"/>
          <a:lstStyle/>
          <a:p>
            <a:pPr marL="0" indent="0" algn="l">
              <a:buNone/>
              <a:defRPr/>
            </a:pPr>
            <a:r>
              <a:rPr lang="en-US" sz="3200" b="1">
                <a:solidFill>
                  <a:srgbClr val="FFFFFF"/>
                </a:solidFill>
                <a:latin typeface="Calibri"/>
                <a:ea typeface="Calibri"/>
                <a:cs typeface="Calibri"/>
              </a:rPr>
              <a:t>Technologies Used</a:t>
            </a:r>
            <a:endParaRPr lang="en-US" sz="3200"/>
          </a:p>
        </p:txBody>
      </p:sp>
      <p:sp>
        <p:nvSpPr>
          <p:cNvPr id="740734338" name="Shape 2"/>
          <p:cNvSpPr/>
          <p:nvPr/>
        </p:nvSpPr>
        <p:spPr bwMode="auto">
          <a:xfrm>
            <a:off x="457200" y="1097280"/>
            <a:ext cx="2011680" cy="1645920"/>
          </a:xfrm>
          <a:prstGeom prst="roundRect">
            <a:avLst>
              <a:gd name="adj" fmla="val 16667"/>
            </a:avLst>
          </a:prstGeom>
          <a:solidFill>
            <a:srgbClr val="4A90E2"/>
          </a:solidFill>
          <a:ln/>
        </p:spPr>
        <p:txBody>
          <a:bodyPr/>
          <a:lstStyle/>
          <a:p>
            <a:pPr>
              <a:defRPr/>
            </a:pPr>
            <a:endParaRPr lang="en-IN"/>
          </a:p>
        </p:txBody>
      </p:sp>
      <p:sp>
        <p:nvSpPr>
          <p:cNvPr id="293274180" name="Text 3"/>
          <p:cNvSpPr/>
          <p:nvPr/>
        </p:nvSpPr>
        <p:spPr bwMode="auto">
          <a:xfrm>
            <a:off x="548640" y="1234440"/>
            <a:ext cx="1828800" cy="365760"/>
          </a:xfrm>
          <a:prstGeom prst="rect">
            <a:avLst/>
          </a:prstGeom>
          <a:noFill/>
          <a:ln/>
        </p:spPr>
        <p:txBody>
          <a:bodyPr wrap="square" rtlCol="0" anchor="ctr"/>
          <a:lstStyle/>
          <a:p>
            <a:pPr marL="0" indent="0" algn="ctr">
              <a:buNone/>
              <a:defRPr/>
            </a:pPr>
            <a:r>
              <a:rPr lang="en-US" sz="1400" b="1">
                <a:solidFill>
                  <a:srgbClr val="FFFFFF"/>
                </a:solidFill>
                <a:latin typeface="Calibri"/>
                <a:ea typeface="Calibri"/>
                <a:cs typeface="Calibri"/>
              </a:rPr>
              <a:t>Python</a:t>
            </a:r>
            <a:endParaRPr lang="en-US" sz="1400"/>
          </a:p>
        </p:txBody>
      </p:sp>
      <p:sp>
        <p:nvSpPr>
          <p:cNvPr id="87140397" name="Text 4"/>
          <p:cNvSpPr/>
          <p:nvPr/>
        </p:nvSpPr>
        <p:spPr bwMode="auto">
          <a:xfrm>
            <a:off x="548640" y="1645920"/>
            <a:ext cx="1828800" cy="1005840"/>
          </a:xfrm>
          <a:prstGeom prst="rect">
            <a:avLst/>
          </a:prstGeom>
          <a:noFill/>
          <a:ln/>
        </p:spPr>
        <p:txBody>
          <a:bodyPr wrap="square" rtlCol="0" anchor="ctr"/>
          <a:lstStyle/>
          <a:p>
            <a:pPr marL="0" indent="0" algn="ctr">
              <a:buNone/>
              <a:defRPr/>
            </a:pPr>
            <a:r>
              <a:rPr lang="en-US" sz="1100">
                <a:solidFill>
                  <a:srgbClr val="FFFFFF"/>
                </a:solidFill>
                <a:latin typeface="Calibri"/>
                <a:ea typeface="Calibri"/>
                <a:cs typeface="Calibri"/>
              </a:rPr>
              <a:t>Data extraction, processing, and ETL</a:t>
            </a:r>
            <a:endParaRPr lang="en-US" sz="1100"/>
          </a:p>
        </p:txBody>
      </p:sp>
      <p:sp>
        <p:nvSpPr>
          <p:cNvPr id="655317699" name="Shape 5"/>
          <p:cNvSpPr/>
          <p:nvPr/>
        </p:nvSpPr>
        <p:spPr bwMode="auto">
          <a:xfrm>
            <a:off x="2606040" y="1097280"/>
            <a:ext cx="2011680" cy="1645920"/>
          </a:xfrm>
          <a:prstGeom prst="roundRect">
            <a:avLst>
              <a:gd name="adj" fmla="val 16667"/>
            </a:avLst>
          </a:prstGeom>
          <a:solidFill>
            <a:srgbClr val="E67E22"/>
          </a:solidFill>
          <a:ln/>
        </p:spPr>
        <p:txBody>
          <a:bodyPr/>
          <a:lstStyle/>
          <a:p>
            <a:pPr>
              <a:defRPr/>
            </a:pPr>
            <a:endParaRPr lang="en-IN"/>
          </a:p>
        </p:txBody>
      </p:sp>
      <p:sp>
        <p:nvSpPr>
          <p:cNvPr id="622765986" name="Text 6"/>
          <p:cNvSpPr/>
          <p:nvPr/>
        </p:nvSpPr>
        <p:spPr bwMode="auto">
          <a:xfrm>
            <a:off x="2697480" y="1234440"/>
            <a:ext cx="1828800" cy="365760"/>
          </a:xfrm>
          <a:prstGeom prst="rect">
            <a:avLst/>
          </a:prstGeom>
          <a:noFill/>
          <a:ln/>
        </p:spPr>
        <p:txBody>
          <a:bodyPr wrap="square" rtlCol="0" anchor="ctr"/>
          <a:lstStyle/>
          <a:p>
            <a:pPr marL="0" indent="0" algn="ctr">
              <a:buNone/>
              <a:defRPr/>
            </a:pPr>
            <a:r>
              <a:rPr lang="en-US" sz="1400" b="1">
                <a:solidFill>
                  <a:srgbClr val="FFFFFF"/>
                </a:solidFill>
                <a:latin typeface="Calibri"/>
                <a:ea typeface="Calibri"/>
                <a:cs typeface="Calibri"/>
              </a:rPr>
              <a:t>GitHub REST API</a:t>
            </a:r>
            <a:endParaRPr lang="en-US" sz="1400"/>
          </a:p>
        </p:txBody>
      </p:sp>
      <p:sp>
        <p:nvSpPr>
          <p:cNvPr id="1380909247" name="Text 7"/>
          <p:cNvSpPr/>
          <p:nvPr/>
        </p:nvSpPr>
        <p:spPr bwMode="auto">
          <a:xfrm>
            <a:off x="2697480" y="1645920"/>
            <a:ext cx="1828800" cy="1005840"/>
          </a:xfrm>
          <a:prstGeom prst="rect">
            <a:avLst/>
          </a:prstGeom>
          <a:noFill/>
          <a:ln/>
        </p:spPr>
        <p:txBody>
          <a:bodyPr wrap="square" rtlCol="0" anchor="ctr"/>
          <a:lstStyle/>
          <a:p>
            <a:pPr marL="0" indent="0" algn="ctr">
              <a:buNone/>
              <a:defRPr/>
            </a:pPr>
            <a:r>
              <a:rPr lang="en-US" sz="1100">
                <a:solidFill>
                  <a:srgbClr val="FFFFFF"/>
                </a:solidFill>
                <a:latin typeface="Calibri"/>
                <a:ea typeface="Calibri"/>
                <a:cs typeface="Calibri"/>
              </a:rPr>
              <a:t>Data source for repository information</a:t>
            </a:r>
            <a:endParaRPr lang="en-US" sz="1100"/>
          </a:p>
        </p:txBody>
      </p:sp>
      <p:sp>
        <p:nvSpPr>
          <p:cNvPr id="20609346" name="Shape 8"/>
          <p:cNvSpPr/>
          <p:nvPr/>
        </p:nvSpPr>
        <p:spPr bwMode="auto">
          <a:xfrm>
            <a:off x="4754880" y="1097280"/>
            <a:ext cx="2011680" cy="1645920"/>
          </a:xfrm>
          <a:prstGeom prst="roundRect">
            <a:avLst>
              <a:gd name="adj" fmla="val 16667"/>
            </a:avLst>
          </a:prstGeom>
          <a:solidFill>
            <a:srgbClr val="27AE60"/>
          </a:solidFill>
          <a:ln/>
        </p:spPr>
        <p:txBody>
          <a:bodyPr/>
          <a:lstStyle/>
          <a:p>
            <a:pPr>
              <a:defRPr/>
            </a:pPr>
            <a:endParaRPr lang="en-IN"/>
          </a:p>
        </p:txBody>
      </p:sp>
      <p:sp>
        <p:nvSpPr>
          <p:cNvPr id="488283583" name="Text 9"/>
          <p:cNvSpPr/>
          <p:nvPr/>
        </p:nvSpPr>
        <p:spPr bwMode="auto">
          <a:xfrm>
            <a:off x="4846320" y="1234440"/>
            <a:ext cx="1828800" cy="365760"/>
          </a:xfrm>
          <a:prstGeom prst="rect">
            <a:avLst/>
          </a:prstGeom>
          <a:noFill/>
          <a:ln/>
        </p:spPr>
        <p:txBody>
          <a:bodyPr wrap="square" rtlCol="0" anchor="ctr"/>
          <a:lstStyle/>
          <a:p>
            <a:pPr marL="0" indent="0" algn="ctr">
              <a:buNone/>
              <a:defRPr/>
            </a:pPr>
            <a:r>
              <a:rPr lang="en-US" sz="1400" b="1">
                <a:solidFill>
                  <a:srgbClr val="FFFFFF"/>
                </a:solidFill>
                <a:latin typeface="Calibri"/>
                <a:ea typeface="Calibri"/>
                <a:cs typeface="Calibri"/>
              </a:rPr>
              <a:t>Pandas</a:t>
            </a:r>
            <a:endParaRPr lang="en-US" sz="1400"/>
          </a:p>
        </p:txBody>
      </p:sp>
      <p:sp>
        <p:nvSpPr>
          <p:cNvPr id="446285758" name="Text 10"/>
          <p:cNvSpPr/>
          <p:nvPr/>
        </p:nvSpPr>
        <p:spPr bwMode="auto">
          <a:xfrm>
            <a:off x="4846320" y="1645920"/>
            <a:ext cx="1828800" cy="1005840"/>
          </a:xfrm>
          <a:prstGeom prst="rect">
            <a:avLst/>
          </a:prstGeom>
          <a:noFill/>
          <a:ln/>
        </p:spPr>
        <p:txBody>
          <a:bodyPr wrap="square" rtlCol="0" anchor="ctr"/>
          <a:lstStyle/>
          <a:p>
            <a:pPr marL="0" indent="0" algn="ctr">
              <a:buNone/>
              <a:defRPr/>
            </a:pPr>
            <a:r>
              <a:rPr lang="en-US" sz="1100">
                <a:solidFill>
                  <a:srgbClr val="FFFFFF"/>
                </a:solidFill>
                <a:latin typeface="Calibri"/>
                <a:ea typeface="Calibri"/>
                <a:cs typeface="Calibri"/>
              </a:rPr>
              <a:t>Data manipulation and transformation</a:t>
            </a:r>
            <a:endParaRPr lang="en-US" sz="1100"/>
          </a:p>
        </p:txBody>
      </p:sp>
      <p:sp>
        <p:nvSpPr>
          <p:cNvPr id="865519538" name="Shape 11"/>
          <p:cNvSpPr/>
          <p:nvPr/>
        </p:nvSpPr>
        <p:spPr bwMode="auto">
          <a:xfrm>
            <a:off x="6903720" y="1097280"/>
            <a:ext cx="2011680" cy="1645920"/>
          </a:xfrm>
          <a:prstGeom prst="roundRect">
            <a:avLst>
              <a:gd name="adj" fmla="val 16667"/>
            </a:avLst>
          </a:prstGeom>
          <a:solidFill>
            <a:srgbClr val="1F3A7F"/>
          </a:solidFill>
          <a:ln/>
        </p:spPr>
        <p:txBody>
          <a:bodyPr/>
          <a:lstStyle/>
          <a:p>
            <a:pPr>
              <a:defRPr/>
            </a:pPr>
            <a:endParaRPr lang="en-IN"/>
          </a:p>
        </p:txBody>
      </p:sp>
      <p:sp>
        <p:nvSpPr>
          <p:cNvPr id="652575751" name="Text 12"/>
          <p:cNvSpPr/>
          <p:nvPr/>
        </p:nvSpPr>
        <p:spPr bwMode="auto">
          <a:xfrm>
            <a:off x="6995160" y="1234440"/>
            <a:ext cx="1828800" cy="365760"/>
          </a:xfrm>
          <a:prstGeom prst="rect">
            <a:avLst/>
          </a:prstGeom>
          <a:noFill/>
          <a:ln/>
        </p:spPr>
        <p:txBody>
          <a:bodyPr wrap="square" rtlCol="0" anchor="ctr"/>
          <a:lstStyle/>
          <a:p>
            <a:pPr marL="0" indent="0" algn="ctr">
              <a:buNone/>
              <a:defRPr/>
            </a:pPr>
            <a:r>
              <a:rPr lang="en-US" sz="1400" b="1">
                <a:solidFill>
                  <a:srgbClr val="FFFFFF"/>
                </a:solidFill>
                <a:latin typeface="Calibri"/>
                <a:ea typeface="Calibri"/>
                <a:cs typeface="Calibri"/>
              </a:rPr>
              <a:t>PostgreSQL</a:t>
            </a:r>
            <a:endParaRPr lang="en-US" sz="1400"/>
          </a:p>
        </p:txBody>
      </p:sp>
      <p:sp>
        <p:nvSpPr>
          <p:cNvPr id="1082046125" name="Text 13"/>
          <p:cNvSpPr/>
          <p:nvPr/>
        </p:nvSpPr>
        <p:spPr bwMode="auto">
          <a:xfrm>
            <a:off x="6995160" y="1645920"/>
            <a:ext cx="1828800" cy="1005840"/>
          </a:xfrm>
          <a:prstGeom prst="rect">
            <a:avLst/>
          </a:prstGeom>
          <a:noFill/>
          <a:ln/>
        </p:spPr>
        <p:txBody>
          <a:bodyPr wrap="square" rtlCol="0" anchor="ctr"/>
          <a:lstStyle/>
          <a:p>
            <a:pPr marL="0" indent="0" algn="ctr">
              <a:buNone/>
              <a:defRPr/>
            </a:pPr>
            <a:r>
              <a:rPr lang="en-US" sz="1100">
                <a:solidFill>
                  <a:srgbClr val="FFFFFF"/>
                </a:solidFill>
                <a:latin typeface="Calibri"/>
                <a:ea typeface="Calibri"/>
                <a:cs typeface="Calibri"/>
              </a:rPr>
              <a:t>Structured data storage and queries</a:t>
            </a:r>
            <a:endParaRPr lang="en-US" sz="1100"/>
          </a:p>
        </p:txBody>
      </p:sp>
      <p:sp>
        <p:nvSpPr>
          <p:cNvPr id="1430677171" name="Shape 14"/>
          <p:cNvSpPr/>
          <p:nvPr/>
        </p:nvSpPr>
        <p:spPr bwMode="auto">
          <a:xfrm>
            <a:off x="457200" y="2926080"/>
            <a:ext cx="2011680" cy="1645920"/>
          </a:xfrm>
          <a:prstGeom prst="roundRect">
            <a:avLst>
              <a:gd name="adj" fmla="val 16667"/>
            </a:avLst>
          </a:prstGeom>
          <a:solidFill>
            <a:srgbClr val="E67E22"/>
          </a:solidFill>
          <a:ln/>
        </p:spPr>
        <p:txBody>
          <a:bodyPr/>
          <a:lstStyle/>
          <a:p>
            <a:pPr>
              <a:defRPr/>
            </a:pPr>
            <a:endParaRPr lang="en-IN"/>
          </a:p>
        </p:txBody>
      </p:sp>
      <p:sp>
        <p:nvSpPr>
          <p:cNvPr id="1592917326" name="Text 15"/>
          <p:cNvSpPr/>
          <p:nvPr/>
        </p:nvSpPr>
        <p:spPr bwMode="auto">
          <a:xfrm>
            <a:off x="548640" y="3063240"/>
            <a:ext cx="1828800" cy="365760"/>
          </a:xfrm>
          <a:prstGeom prst="rect">
            <a:avLst/>
          </a:prstGeom>
          <a:noFill/>
          <a:ln/>
        </p:spPr>
        <p:txBody>
          <a:bodyPr wrap="square" rtlCol="0" anchor="ctr"/>
          <a:lstStyle/>
          <a:p>
            <a:pPr marL="0" indent="0" algn="ctr">
              <a:buNone/>
              <a:defRPr/>
            </a:pPr>
            <a:r>
              <a:rPr lang="en-US" sz="1400" b="1">
                <a:solidFill>
                  <a:srgbClr val="FFFFFF"/>
                </a:solidFill>
                <a:latin typeface="Calibri"/>
                <a:ea typeface="Calibri"/>
                <a:cs typeface="Calibri"/>
              </a:rPr>
              <a:t> Streamlit</a:t>
            </a:r>
            <a:endParaRPr lang="en-US" sz="1400"/>
          </a:p>
        </p:txBody>
      </p:sp>
      <p:sp>
        <p:nvSpPr>
          <p:cNvPr id="692720400" name="Text 16"/>
          <p:cNvSpPr/>
          <p:nvPr/>
        </p:nvSpPr>
        <p:spPr bwMode="auto">
          <a:xfrm>
            <a:off x="548640" y="3474720"/>
            <a:ext cx="1828800" cy="1005840"/>
          </a:xfrm>
          <a:prstGeom prst="rect">
            <a:avLst/>
          </a:prstGeom>
          <a:noFill/>
          <a:ln/>
        </p:spPr>
        <p:txBody>
          <a:bodyPr wrap="square" rtlCol="0" anchor="ctr"/>
          <a:lstStyle/>
          <a:p>
            <a:pPr algn="ctr">
              <a:defRPr/>
            </a:pPr>
            <a:r>
              <a:rPr sz="1200" b="0" i="0" u="none">
                <a:solidFill>
                  <a:schemeClr val="bg1"/>
                </a:solidFill>
                <a:latin typeface="Times New Roman"/>
                <a:ea typeface="Times New Roman"/>
                <a:cs typeface="Times New Roman"/>
              </a:rPr>
              <a:t>Interactive data visualization</a:t>
            </a:r>
            <a:endParaRPr>
              <a:solidFill>
                <a:schemeClr val="bg1"/>
              </a:solidFill>
            </a:endParaRPr>
          </a:p>
        </p:txBody>
      </p:sp>
      <p:sp>
        <p:nvSpPr>
          <p:cNvPr id="2011581205" name="Shape 17"/>
          <p:cNvSpPr/>
          <p:nvPr/>
        </p:nvSpPr>
        <p:spPr bwMode="auto">
          <a:xfrm>
            <a:off x="6903720" y="2926080"/>
            <a:ext cx="2011680" cy="1645920"/>
          </a:xfrm>
          <a:prstGeom prst="roundRect">
            <a:avLst>
              <a:gd name="adj" fmla="val 16667"/>
            </a:avLst>
          </a:prstGeom>
          <a:solidFill>
            <a:srgbClr val="2C3E50"/>
          </a:solidFill>
          <a:ln/>
        </p:spPr>
        <p:txBody>
          <a:bodyPr/>
          <a:lstStyle/>
          <a:p>
            <a:pPr>
              <a:defRPr/>
            </a:pPr>
            <a:endParaRPr lang="en-IN"/>
          </a:p>
        </p:txBody>
      </p:sp>
      <p:sp>
        <p:nvSpPr>
          <p:cNvPr id="2131319286" name="Text 18"/>
          <p:cNvSpPr/>
          <p:nvPr/>
        </p:nvSpPr>
        <p:spPr bwMode="auto">
          <a:xfrm>
            <a:off x="6995160" y="3170396"/>
            <a:ext cx="1828800" cy="365760"/>
          </a:xfrm>
          <a:prstGeom prst="rect">
            <a:avLst/>
          </a:prstGeom>
          <a:noFill/>
          <a:ln/>
        </p:spPr>
        <p:txBody>
          <a:bodyPr wrap="square" rtlCol="0" anchor="ctr"/>
          <a:lstStyle/>
          <a:p>
            <a:pPr marL="0" indent="0" algn="ctr">
              <a:buNone/>
              <a:defRPr/>
            </a:pPr>
            <a:r>
              <a:rPr lang="en-US" sz="1400" b="1">
                <a:solidFill>
                  <a:srgbClr val="FFFFFF"/>
                </a:solidFill>
                <a:latin typeface="Calibri"/>
                <a:ea typeface="Calibri"/>
                <a:cs typeface="Calibri"/>
              </a:rPr>
              <a:t>Git/GitHub</a:t>
            </a:r>
            <a:endParaRPr lang="en-US" sz="1400"/>
          </a:p>
        </p:txBody>
      </p:sp>
      <p:sp>
        <p:nvSpPr>
          <p:cNvPr id="1201953244" name="Text 19"/>
          <p:cNvSpPr/>
          <p:nvPr/>
        </p:nvSpPr>
        <p:spPr bwMode="auto">
          <a:xfrm>
            <a:off x="6995160" y="3474720"/>
            <a:ext cx="1828800" cy="1005840"/>
          </a:xfrm>
          <a:prstGeom prst="rect">
            <a:avLst/>
          </a:prstGeom>
          <a:noFill/>
          <a:ln/>
        </p:spPr>
        <p:txBody>
          <a:bodyPr wrap="square" rtlCol="0" anchor="ctr"/>
          <a:lstStyle/>
          <a:p>
            <a:pPr marL="0" indent="0" algn="ctr">
              <a:buNone/>
              <a:defRPr/>
            </a:pPr>
            <a:r>
              <a:rPr lang="en-US" sz="1100">
                <a:solidFill>
                  <a:srgbClr val="FFFFFF"/>
                </a:solidFill>
                <a:latin typeface="Calibri"/>
                <a:ea typeface="Calibri"/>
                <a:cs typeface="Calibri"/>
              </a:rPr>
              <a:t>Version control &amp; project management</a:t>
            </a:r>
            <a:endParaRPr lang="en-US" sz="1100"/>
          </a:p>
        </p:txBody>
      </p:sp>
      <p:sp>
        <p:nvSpPr>
          <p:cNvPr id="510614091" name="Shape 20"/>
          <p:cNvSpPr/>
          <p:nvPr/>
        </p:nvSpPr>
        <p:spPr bwMode="auto">
          <a:xfrm>
            <a:off x="4754880" y="2926080"/>
            <a:ext cx="2011680" cy="1645920"/>
          </a:xfrm>
          <a:prstGeom prst="roundRect">
            <a:avLst>
              <a:gd name="adj" fmla="val 16667"/>
            </a:avLst>
          </a:prstGeom>
          <a:solidFill>
            <a:srgbClr val="7F8C8D"/>
          </a:solidFill>
          <a:ln/>
        </p:spPr>
        <p:txBody>
          <a:bodyPr/>
          <a:lstStyle/>
          <a:p>
            <a:pPr>
              <a:defRPr/>
            </a:pPr>
            <a:endParaRPr lang="en-IN"/>
          </a:p>
        </p:txBody>
      </p:sp>
      <p:sp>
        <p:nvSpPr>
          <p:cNvPr id="786436713" name="Text 21"/>
          <p:cNvSpPr/>
          <p:nvPr/>
        </p:nvSpPr>
        <p:spPr bwMode="auto">
          <a:xfrm>
            <a:off x="4846320" y="3063240"/>
            <a:ext cx="1828800" cy="365760"/>
          </a:xfrm>
          <a:prstGeom prst="rect">
            <a:avLst/>
          </a:prstGeom>
          <a:noFill/>
          <a:ln/>
        </p:spPr>
        <p:txBody>
          <a:bodyPr wrap="square" rtlCol="0" anchor="ctr"/>
          <a:lstStyle/>
          <a:p>
            <a:pPr marL="0" indent="0" algn="ctr">
              <a:buNone/>
              <a:defRPr/>
            </a:pPr>
            <a:r>
              <a:rPr lang="en-US" sz="1400" b="1">
                <a:solidFill>
                  <a:srgbClr val="FFFFFF"/>
                </a:solidFill>
                <a:latin typeface="Calibri"/>
                <a:ea typeface="Calibri"/>
                <a:cs typeface="Calibri"/>
              </a:rPr>
              <a:t>Docker (Optional)</a:t>
            </a:r>
            <a:endParaRPr lang="en-US" sz="1400"/>
          </a:p>
        </p:txBody>
      </p:sp>
      <p:sp>
        <p:nvSpPr>
          <p:cNvPr id="1284593458" name="Text 22"/>
          <p:cNvSpPr/>
          <p:nvPr/>
        </p:nvSpPr>
        <p:spPr bwMode="auto">
          <a:xfrm>
            <a:off x="4846320" y="3474720"/>
            <a:ext cx="1828800" cy="1005840"/>
          </a:xfrm>
          <a:prstGeom prst="rect">
            <a:avLst/>
          </a:prstGeom>
          <a:noFill/>
          <a:ln/>
        </p:spPr>
        <p:txBody>
          <a:bodyPr wrap="square" rtlCol="0" anchor="ctr"/>
          <a:lstStyle/>
          <a:p>
            <a:pPr marL="0" indent="0" algn="ctr">
              <a:buNone/>
              <a:defRPr/>
            </a:pPr>
            <a:r>
              <a:rPr lang="en-US" sz="1100">
                <a:solidFill>
                  <a:srgbClr val="FFFFFF"/>
                </a:solidFill>
                <a:latin typeface="Calibri"/>
                <a:ea typeface="Calibri"/>
                <a:cs typeface="Calibri"/>
              </a:rPr>
              <a:t>Containerization &amp; deployment</a:t>
            </a:r>
            <a:endParaRPr lang="en-US" sz="1100"/>
          </a:p>
        </p:txBody>
      </p:sp>
      <p:sp>
        <p:nvSpPr>
          <p:cNvPr id="504697060" name="Shape 17"/>
          <p:cNvSpPr/>
          <p:nvPr/>
        </p:nvSpPr>
        <p:spPr bwMode="auto">
          <a:xfrm>
            <a:off x="2560320" y="2926080"/>
            <a:ext cx="2011680" cy="1645920"/>
          </a:xfrm>
          <a:prstGeom prst="roundRect">
            <a:avLst>
              <a:gd name="adj" fmla="val 16667"/>
            </a:avLst>
          </a:prstGeom>
          <a:solidFill>
            <a:srgbClr val="2C3E50"/>
          </a:solidFill>
          <a:ln/>
        </p:spPr>
        <p:txBody>
          <a:bodyPr/>
          <a:lstStyle/>
          <a:p>
            <a:pPr>
              <a:defRPr/>
            </a:pPr>
            <a:endParaRPr lang="en-IN"/>
          </a:p>
        </p:txBody>
      </p:sp>
      <p:sp>
        <p:nvSpPr>
          <p:cNvPr id="1039749094" name="Text 18"/>
          <p:cNvSpPr/>
          <p:nvPr/>
        </p:nvSpPr>
        <p:spPr bwMode="auto">
          <a:xfrm>
            <a:off x="2651760" y="3170396"/>
            <a:ext cx="1828800" cy="365760"/>
          </a:xfrm>
          <a:prstGeom prst="rect">
            <a:avLst/>
          </a:prstGeom>
          <a:noFill/>
          <a:ln/>
        </p:spPr>
        <p:txBody>
          <a:bodyPr wrap="square" rtlCol="0" anchor="ctr"/>
          <a:lstStyle/>
          <a:p>
            <a:pPr algn="ctr">
              <a:defRPr/>
            </a:pPr>
            <a:r>
              <a:rPr sz="1200" b="0" i="0" u="none">
                <a:solidFill>
                  <a:schemeClr val="bg1"/>
                </a:solidFill>
                <a:latin typeface="Times New Roman"/>
                <a:ea typeface="Times New Roman"/>
                <a:cs typeface="Times New Roman"/>
              </a:rPr>
              <a:t>Apache Airflow</a:t>
            </a:r>
            <a:endParaRPr>
              <a:solidFill>
                <a:schemeClr val="bg1"/>
              </a:solidFill>
            </a:endParaRPr>
          </a:p>
        </p:txBody>
      </p:sp>
      <p:sp>
        <p:nvSpPr>
          <p:cNvPr id="1703520766" name="Text 19"/>
          <p:cNvSpPr/>
          <p:nvPr/>
        </p:nvSpPr>
        <p:spPr bwMode="auto">
          <a:xfrm>
            <a:off x="2651760" y="3474720"/>
            <a:ext cx="1828800" cy="1005840"/>
          </a:xfrm>
          <a:prstGeom prst="rect">
            <a:avLst/>
          </a:prstGeom>
          <a:noFill/>
          <a:ln/>
        </p:spPr>
        <p:txBody>
          <a:bodyPr wrap="square" rtlCol="0" anchor="ctr"/>
          <a:lstStyle/>
          <a:p>
            <a:pPr algn="ctr">
              <a:defRPr/>
            </a:pPr>
            <a:r>
              <a:rPr sz="1200" b="0" i="0" u="none">
                <a:solidFill>
                  <a:schemeClr val="bg1"/>
                </a:solidFill>
                <a:latin typeface="Times New Roman"/>
                <a:ea typeface="Times New Roman"/>
                <a:cs typeface="Times New Roman"/>
              </a:rPr>
              <a:t>Pipeline scheduling and orchestration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3694100" name="Rectangle 1"/>
          <p:cNvSpPr/>
          <p:nvPr/>
        </p:nvSpPr>
        <p:spPr bwMode="auto">
          <a:xfrm>
            <a:off x="0" y="0"/>
            <a:ext cx="9144000" cy="480060"/>
          </a:xfrm>
          <a:prstGeom prst="rect">
            <a:avLst/>
          </a:prstGeom>
          <a:solidFill>
            <a:srgbClr val="105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rPr/>
              <a:t>Literature Survey</a:t>
            </a:r>
            <a:endParaRPr/>
          </a:p>
        </p:txBody>
      </p:sp>
      <p:sp>
        <p:nvSpPr>
          <p:cNvPr id="1981738993" name="Rounded Rectangle 2"/>
          <p:cNvSpPr/>
          <p:nvPr/>
        </p:nvSpPr>
        <p:spPr bwMode="auto">
          <a:xfrm>
            <a:off x="7749733" y="54864"/>
            <a:ext cx="1165889" cy="308610"/>
          </a:xfrm>
          <a:prstGeom prst="roundRect">
            <a:avLst>
              <a:gd name="adj" fmla="val 16667"/>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B40000"/>
                </a:solidFill>
              </a:defRPr>
            </a:pPr>
            <a:r>
              <a:rPr/>
              <a:t>KLH</a:t>
            </a:r>
            <a:endParaRPr/>
          </a:p>
        </p:txBody>
      </p:sp>
      <p:graphicFrame>
        <p:nvGraphicFramePr>
          <p:cNvPr id="993716615" name="Table 3"/>
          <p:cNvGraphicFramePr>
            <a:graphicFrameLocks xmlns:a="http://schemas.openxmlformats.org/drawingml/2006/main"/>
          </p:cNvGraphicFramePr>
          <p:nvPr/>
        </p:nvGraphicFramePr>
        <p:xfrm rot="0">
          <a:off x="0" y="480059"/>
          <a:ext cx="9465917" cy="4018211"/>
        </p:xfrm>
        <a:graphic>
          <a:graphicData uri="http://schemas.openxmlformats.org/drawingml/2006/table">
            <a:tbl>
              <a:tblPr firstRow="1" firstCol="0" lastRow="0" lastCol="0" bandRow="1" bandCol="0">
                <a:tableStyleId>{5C22544A-7EE6-4342-B048-85BDC9FD1C3A}</a:tableStyleId>
              </a:tblPr>
              <a:tblGrid>
                <a:gridCol w="1125415"/>
                <a:gridCol w="1688122"/>
                <a:gridCol w="2039815"/>
                <a:gridCol w="2250830"/>
                <a:gridCol w="2039815"/>
              </a:tblGrid>
              <a:tr h="936292">
                <a:tc>
                  <a:txBody>
                    <a:bodyPr/>
                    <a:p>
                      <a:pPr algn="ctr">
                        <a:defRPr sz="1200" b="1">
                          <a:solidFill>
                            <a:srgbClr val="FFFFFF"/>
                          </a:solidFill>
                        </a:defRPr>
                      </a:pPr>
                      <a:r>
                        <a:rPr/>
                        <a:t>Authors / Year</a:t>
                      </a:r>
                      <a:endParaRPr/>
                    </a:p>
                  </a:txBody>
                  <a:tcPr>
                    <a:solidFill>
                      <a:srgbClr val="20693F"/>
                    </a:solidFill>
                  </a:tcPr>
                </a:tc>
                <a:tc>
                  <a:txBody>
                    <a:bodyPr/>
                    <a:p>
                      <a:pPr algn="ctr">
                        <a:defRPr sz="1200" b="1">
                          <a:solidFill>
                            <a:srgbClr val="FFFFFF"/>
                          </a:solidFill>
                        </a:defRPr>
                      </a:pPr>
                      <a:r>
                        <a:rPr/>
                        <a:t>Study</a:t>
                      </a:r>
                      <a:endParaRPr/>
                    </a:p>
                  </a:txBody>
                  <a:tcPr>
                    <a:solidFill>
                      <a:srgbClr val="20693F"/>
                    </a:solidFill>
                  </a:tcPr>
                </a:tc>
                <a:tc>
                  <a:txBody>
                    <a:bodyPr/>
                    <a:p>
                      <a:pPr algn="ctr">
                        <a:defRPr sz="1200" b="1">
                          <a:solidFill>
                            <a:srgbClr val="FFFFFF"/>
                          </a:solidFill>
                        </a:defRPr>
                      </a:pPr>
                      <a:r>
                        <a:rPr/>
                        <a:t>Method / Focus</a:t>
                      </a:r>
                      <a:endParaRPr/>
                    </a:p>
                  </a:txBody>
                  <a:tcPr>
                    <a:solidFill>
                      <a:srgbClr val="20693F"/>
                    </a:solidFill>
                  </a:tcPr>
                </a:tc>
                <a:tc>
                  <a:txBody>
                    <a:bodyPr/>
                    <a:p>
                      <a:pPr algn="ctr">
                        <a:defRPr sz="1200" b="1">
                          <a:solidFill>
                            <a:srgbClr val="FFFFFF"/>
                          </a:solidFill>
                        </a:defRPr>
                      </a:pPr>
                      <a:r>
                        <a:rPr/>
                        <a:t>Key Findings</a:t>
                      </a:r>
                      <a:endParaRPr/>
                    </a:p>
                  </a:txBody>
                  <a:tcPr>
                    <a:solidFill>
                      <a:srgbClr val="20693F"/>
                    </a:solidFill>
                  </a:tcPr>
                </a:tc>
                <a:tc>
                  <a:txBody>
                    <a:bodyPr/>
                    <a:p>
                      <a:pPr algn="ctr">
                        <a:defRPr sz="1200" b="1">
                          <a:solidFill>
                            <a:srgbClr val="FFFFFF"/>
                          </a:solidFill>
                        </a:defRPr>
                      </a:pPr>
                      <a:r>
                        <a:rPr/>
                        <a:t>Limitation / Gap</a:t>
                      </a:r>
                      <a:endParaRPr/>
                    </a:p>
                  </a:txBody>
                  <a:tcPr>
                    <a:solidFill>
                      <a:srgbClr val="20693F"/>
                    </a:solidFill>
                  </a:tcPr>
                </a:tc>
              </a:tr>
              <a:tr h="936292">
                <a:tc>
                  <a:txBody>
                    <a:bodyPr/>
                    <a:p>
                      <a:pPr>
                        <a:defRPr sz="1000"/>
                      </a:pPr>
                      <a:r>
                        <a:rPr/>
                        <a:t>Kalliamvakou et al. (2016)</a:t>
                      </a:r>
                      <a:endParaRPr/>
                    </a:p>
                  </a:txBody>
                  <a:tcPr>
                    <a:solidFill>
                      <a:srgbClr val="EFEFEF"/>
                    </a:solidFill>
                  </a:tcPr>
                </a:tc>
                <a:tc>
                  <a:txBody>
                    <a:bodyPr/>
                    <a:p>
                      <a:pPr>
                        <a:defRPr sz="1000"/>
                      </a:pPr>
                      <a:r>
                        <a:rPr/>
                        <a:t>Mining GitHub Repository Activity</a:t>
                      </a:r>
                      <a:endParaRPr/>
                    </a:p>
                  </a:txBody>
                  <a:tcPr>
                    <a:solidFill>
                      <a:srgbClr val="EFEFEF"/>
                    </a:solidFill>
                  </a:tcPr>
                </a:tc>
                <a:tc>
                  <a:txBody>
                    <a:bodyPr/>
                    <a:p>
                      <a:pPr>
                        <a:defRPr sz="1000"/>
                      </a:pPr>
                      <a:r>
                        <a:rPr/>
                        <a:t>Analyzed GitHub event data and repository usage patterns.</a:t>
                      </a:r>
                      <a:endParaRPr/>
                    </a:p>
                  </a:txBody>
                  <a:tcPr>
                    <a:solidFill>
                      <a:srgbClr val="EFEFEF"/>
                    </a:solidFill>
                  </a:tcPr>
                </a:tc>
                <a:tc>
                  <a:txBody>
                    <a:bodyPr/>
                    <a:p>
                      <a:pPr>
                        <a:defRPr sz="1000"/>
                      </a:pPr>
                      <a:r>
                        <a:rPr/>
                        <a:t>GitHub data reveals contributor activity, collaboration trends, and project evolution.</a:t>
                      </a:r>
                      <a:endParaRPr/>
                    </a:p>
                  </a:txBody>
                  <a:tcPr>
                    <a:solidFill>
                      <a:srgbClr val="EFEFEF"/>
                    </a:solidFill>
                  </a:tcPr>
                </a:tc>
                <a:tc>
                  <a:txBody>
                    <a:bodyPr/>
                    <a:p>
                      <a:pPr>
                        <a:defRPr sz="1000"/>
                      </a:pPr>
                      <a:r>
                        <a:rPr/>
                        <a:t>Raw GitHub events require preprocessing and structured storage.</a:t>
                      </a:r>
                      <a:endParaRPr/>
                    </a:p>
                  </a:txBody>
                  <a:tcPr>
                    <a:solidFill>
                      <a:srgbClr val="EFEFEF"/>
                    </a:solidFill>
                  </a:tcPr>
                </a:tc>
              </a:tr>
              <a:tr h="936292">
                <a:tc>
                  <a:txBody>
                    <a:bodyPr/>
                    <a:p>
                      <a:pPr>
                        <a:defRPr sz="1000"/>
                      </a:pPr>
                      <a:r>
                        <a:rPr/>
                        <a:t>Gousios et al. (2014)</a:t>
                      </a:r>
                      <a:endParaRPr/>
                    </a:p>
                  </a:txBody>
                  <a:tcPr>
                    <a:solidFill>
                      <a:srgbClr val="DEDEDE"/>
                    </a:solidFill>
                  </a:tcPr>
                </a:tc>
                <a:tc>
                  <a:txBody>
                    <a:bodyPr/>
                    <a:p>
                      <a:pPr>
                        <a:defRPr sz="1000"/>
                      </a:pPr>
                      <a:r>
                        <a:rPr/>
                        <a:t>GHTorrent: GitHub Data Collection</a:t>
                      </a:r>
                      <a:endParaRPr/>
                    </a:p>
                  </a:txBody>
                  <a:tcPr>
                    <a:solidFill>
                      <a:srgbClr val="DEDEDE"/>
                    </a:solidFill>
                  </a:tcPr>
                </a:tc>
                <a:tc>
                  <a:txBody>
                    <a:bodyPr/>
                    <a:p>
                      <a:pPr>
                        <a:defRPr sz="1000"/>
                      </a:pPr>
                      <a:r>
                        <a:rPr/>
                        <a:t>Built a scalable dataset by extracting GitHub REST API data into databases.</a:t>
                      </a:r>
                      <a:endParaRPr/>
                    </a:p>
                  </a:txBody>
                  <a:tcPr>
                    <a:solidFill>
                      <a:srgbClr val="DEDEDE"/>
                    </a:solidFill>
                  </a:tcPr>
                </a:tc>
                <a:tc>
                  <a:txBody>
                    <a:bodyPr/>
                    <a:p>
                      <a:pPr>
                        <a:defRPr sz="1000"/>
                      </a:pPr>
                      <a:r>
                        <a:rPr/>
                        <a:t>Demonstrated automated GitHub data ingestion for research and analytics.</a:t>
                      </a:r>
                      <a:endParaRPr/>
                    </a:p>
                  </a:txBody>
                  <a:tcPr>
                    <a:solidFill>
                      <a:srgbClr val="DEDEDE"/>
                    </a:solidFill>
                  </a:tcPr>
                </a:tc>
                <a:tc>
                  <a:txBody>
                    <a:bodyPr/>
                    <a:p>
                      <a:pPr>
                        <a:defRPr sz="1000"/>
                      </a:pPr>
                      <a:r>
                        <a:rPr/>
                        <a:t>API data is distributed across endpoints and needs transformation.</a:t>
                      </a:r>
                      <a:endParaRPr/>
                    </a:p>
                  </a:txBody>
                  <a:tcPr>
                    <a:solidFill>
                      <a:srgbClr val="DEDEDE"/>
                    </a:solidFill>
                  </a:tcPr>
                </a:tc>
              </a:tr>
              <a:tr h="936292">
                <a:tc>
                  <a:txBody>
                    <a:bodyPr/>
                    <a:p>
                      <a:pPr>
                        <a:defRPr sz="1000"/>
                      </a:pPr>
                      <a:r>
                        <a:rPr/>
                        <a:t>Vasilescu et al. (2015)</a:t>
                      </a:r>
                      <a:endParaRPr/>
                    </a:p>
                  </a:txBody>
                  <a:tcPr>
                    <a:solidFill>
                      <a:srgbClr val="EFEFEF"/>
                    </a:solidFill>
                  </a:tcPr>
                </a:tc>
                <a:tc>
                  <a:txBody>
                    <a:bodyPr/>
                    <a:p>
                      <a:pPr>
                        <a:defRPr sz="1000"/>
                      </a:pPr>
                      <a:r>
                        <a:rPr/>
                        <a:t>Developer Productivity on GitHub</a:t>
                      </a:r>
                      <a:endParaRPr/>
                    </a:p>
                  </a:txBody>
                  <a:tcPr>
                    <a:solidFill>
                      <a:srgbClr val="EFEFEF"/>
                    </a:solidFill>
                  </a:tcPr>
                </a:tc>
                <a:tc>
                  <a:txBody>
                    <a:bodyPr/>
                    <a:p>
                      <a:pPr>
                        <a:defRPr sz="1000"/>
                      </a:pPr>
                      <a:r>
                        <a:rPr/>
                        <a:t>Studied commits, pull requests, issues, and contributor interactions.</a:t>
                      </a:r>
                      <a:endParaRPr/>
                    </a:p>
                  </a:txBody>
                  <a:tcPr>
                    <a:solidFill>
                      <a:srgbClr val="EFEFEF"/>
                    </a:solidFill>
                  </a:tcPr>
                </a:tc>
                <a:tc>
                  <a:txBody>
                    <a:bodyPr/>
                    <a:p>
                      <a:pPr>
                        <a:defRPr sz="1000"/>
                      </a:pPr>
                      <a:r>
                        <a:rPr/>
                        <a:t>Repository metrics help evaluate project health and team collaboration.</a:t>
                      </a:r>
                      <a:endParaRPr/>
                    </a:p>
                  </a:txBody>
                  <a:tcPr>
                    <a:solidFill>
                      <a:srgbClr val="EFEFEF"/>
                    </a:solidFill>
                  </a:tcPr>
                </a:tc>
                <a:tc>
                  <a:txBody>
                    <a:bodyPr/>
                    <a:p>
                      <a:pPr>
                        <a:defRPr sz="1000"/>
                      </a:pPr>
                      <a:r>
                        <a:rPr/>
                        <a:t>Direct API analysis is inefficient for complex analytical queries.</a:t>
                      </a:r>
                      <a:endParaRPr/>
                    </a:p>
                  </a:txBody>
                  <a:tcPr>
                    <a:solidFill>
                      <a:srgbClr val="EFEFEF"/>
                    </a:solidFill>
                  </a:tcPr>
                </a:tc>
              </a:tr>
              <a:tr h="936292">
                <a:tc>
                  <a:txBody>
                    <a:bodyPr/>
                    <a:p>
                      <a:pPr>
                        <a:defRPr sz="1000"/>
                      </a:pPr>
                      <a:r>
                        <a:rPr/>
                        <a:t>This Project (2026)</a:t>
                      </a:r>
                      <a:endParaRPr/>
                    </a:p>
                  </a:txBody>
                  <a:tcPr>
                    <a:solidFill>
                      <a:srgbClr val="DEDEDE"/>
                    </a:solidFill>
                  </a:tcPr>
                </a:tc>
                <a:tc>
                  <a:txBody>
                    <a:bodyPr/>
                    <a:p>
                      <a:pPr>
                        <a:defRPr sz="1000"/>
                      </a:pPr>
                      <a:r>
                        <a:rPr/>
                        <a:t>GitHub Analytics Pipeline</a:t>
                      </a:r>
                      <a:endParaRPr/>
                    </a:p>
                  </a:txBody>
                  <a:tcPr>
                    <a:solidFill>
                      <a:srgbClr val="DEDEDE"/>
                    </a:solidFill>
                  </a:tcPr>
                </a:tc>
                <a:tc>
                  <a:txBody>
                    <a:bodyPr/>
                    <a:p>
                      <a:pPr>
                        <a:defRPr sz="1000"/>
                      </a:pPr>
                      <a:r>
                        <a:rPr/>
                        <a:t>ETL pipeline using GitHub API, Pandas, PostgreSQL, and Streamlit.</a:t>
                      </a:r>
                      <a:endParaRPr/>
                    </a:p>
                  </a:txBody>
                  <a:tcPr>
                    <a:solidFill>
                      <a:srgbClr val="DEDEDE"/>
                    </a:solidFill>
                  </a:tcPr>
                </a:tc>
                <a:tc>
                  <a:txBody>
                    <a:bodyPr/>
                    <a:p>
                      <a:pPr>
                        <a:defRPr sz="1000"/>
                      </a:pPr>
                      <a:r>
                        <a:rPr/>
                        <a:t>Automates extraction, cleaning, storage, SQL analytics, and dashboard visualization.</a:t>
                      </a:r>
                      <a:endParaRPr/>
                    </a:p>
                  </a:txBody>
                  <a:tcPr>
                    <a:solidFill>
                      <a:srgbClr val="DEDEDE"/>
                    </a:solidFill>
                  </a:tcPr>
                </a:tc>
                <a:tc>
                  <a:txBody>
                    <a:bodyPr/>
                    <a:p>
                      <a:pPr>
                        <a:defRPr sz="1000"/>
                      </a:pPr>
                      <a:r>
                        <a:rPr/>
                        <a:t>Future scope includes Airflow scheduling, Docker deployment, and multi-repository support.</a:t>
                      </a:r>
                      <a:endParaRPr/>
                    </a:p>
                  </a:txBody>
                  <a:tcPr>
                    <a:solidFill>
                      <a:srgbClr val="DEDEDE"/>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FFFFF"/>
        </a:solidFill>
      </p:bgPr>
    </p:bg>
    <p:spTree>
      <p:nvGrpSpPr>
        <p:cNvPr id="1" name=""/>
        <p:cNvGrpSpPr/>
        <p:nvPr/>
      </p:nvGrpSpPr>
      <p:grpSpPr bwMode="auto">
        <a:xfrm>
          <a:off x="0" y="0"/>
          <a:ext cx="0" cy="0"/>
          <a:chOff x="0" y="0"/>
          <a:chExt cx="0" cy="0"/>
        </a:xfrm>
      </p:grpSpPr>
      <p:sp>
        <p:nvSpPr>
          <p:cNvPr id="2140682486" name="Shape 0"/>
          <p:cNvSpPr/>
          <p:nvPr/>
        </p:nvSpPr>
        <p:spPr bwMode="auto">
          <a:xfrm flipH="0" flipV="0">
            <a:off x="0" y="0"/>
            <a:ext cx="4906593" cy="1083468"/>
          </a:xfrm>
          <a:prstGeom prst="rect">
            <a:avLst/>
          </a:prstGeom>
          <a:solidFill>
            <a:srgbClr val="1F3A7F"/>
          </a:solidFill>
          <a:ln/>
        </p:spPr>
        <p:txBody>
          <a:bodyPr/>
          <a:lstStyle/>
          <a:p>
            <a:pPr>
              <a:defRPr/>
            </a:pPr>
            <a:endParaRPr lang="en-IN"/>
          </a:p>
        </p:txBody>
      </p:sp>
      <p:sp>
        <p:nvSpPr>
          <p:cNvPr id="269207235" name="Text 1"/>
          <p:cNvSpPr/>
          <p:nvPr/>
        </p:nvSpPr>
        <p:spPr bwMode="auto">
          <a:xfrm flipH="0" flipV="0">
            <a:off x="457200" y="137159"/>
            <a:ext cx="3639767" cy="946308"/>
          </a:xfrm>
          <a:prstGeom prst="rect">
            <a:avLst/>
          </a:prstGeom>
          <a:noFill/>
          <a:ln/>
        </p:spPr>
        <p:txBody>
          <a:bodyPr wrap="square" rtlCol="0" anchor="ctr"/>
          <a:lstStyle/>
          <a:p>
            <a:pPr marL="0" indent="0" algn="l">
              <a:buNone/>
              <a:defRPr/>
            </a:pPr>
            <a:r>
              <a:rPr lang="en-US" sz="3200" b="1">
                <a:solidFill>
                  <a:srgbClr val="FFFFFF"/>
                </a:solidFill>
                <a:latin typeface="Calibri"/>
                <a:ea typeface="Calibri"/>
                <a:cs typeface="Calibri"/>
              </a:rPr>
              <a:t>System Architecture - Data Pipeline</a:t>
            </a:r>
            <a:endParaRPr lang="en-US" sz="3200"/>
          </a:p>
        </p:txBody>
      </p:sp>
      <p:sp>
        <p:nvSpPr>
          <p:cNvPr id="1189015463" name="Text 19"/>
          <p:cNvSpPr/>
          <p:nvPr/>
        </p:nvSpPr>
        <p:spPr bwMode="auto">
          <a:xfrm flipH="0" flipV="0">
            <a:off x="171450" y="1230629"/>
            <a:ext cx="4318424" cy="274320"/>
          </a:xfrm>
          <a:prstGeom prst="rect">
            <a:avLst/>
          </a:prstGeom>
          <a:noFill/>
          <a:ln/>
        </p:spPr>
        <p:txBody>
          <a:bodyPr wrap="square" rtlCol="0" anchor="ctr"/>
          <a:lstStyle/>
          <a:p>
            <a:pPr marL="0" indent="0">
              <a:buNone/>
              <a:defRPr/>
            </a:pPr>
            <a:r>
              <a:rPr lang="en-US" sz="1400" b="1">
                <a:solidFill>
                  <a:srgbClr val="1F3A7F"/>
                </a:solidFill>
                <a:latin typeface="Calibri"/>
                <a:ea typeface="Calibri"/>
                <a:cs typeface="Calibri"/>
              </a:rPr>
              <a:t>Data Flow Process:</a:t>
            </a:r>
            <a:endParaRPr lang="en-US" sz="1400"/>
          </a:p>
        </p:txBody>
      </p:sp>
      <p:sp>
        <p:nvSpPr>
          <p:cNvPr id="1223122114" name="Text 20"/>
          <p:cNvSpPr/>
          <p:nvPr/>
        </p:nvSpPr>
        <p:spPr bwMode="auto">
          <a:xfrm>
            <a:off x="171450" y="1584483"/>
            <a:ext cx="7863840" cy="320040"/>
          </a:xfrm>
          <a:prstGeom prst="rect">
            <a:avLst/>
          </a:prstGeom>
          <a:noFill/>
          <a:ln/>
        </p:spPr>
        <p:txBody>
          <a:bodyPr wrap="square" rtlCol="0" anchor="ctr"/>
          <a:lstStyle/>
          <a:p>
            <a:pPr marL="0" indent="0">
              <a:buNone/>
              <a:defRPr/>
            </a:pPr>
            <a:r>
              <a:rPr lang="en-US" sz="1100">
                <a:solidFill>
                  <a:srgbClr val="2C3E50"/>
                </a:solidFill>
                <a:latin typeface="Calibri"/>
                <a:ea typeface="Calibri"/>
                <a:cs typeface="Calibri"/>
              </a:rPr>
              <a:t>1. GitHub API: Fetch repository, commit, issue, and contributor data</a:t>
            </a:r>
            <a:endParaRPr lang="en-US" sz="1100"/>
          </a:p>
        </p:txBody>
      </p:sp>
      <p:sp>
        <p:nvSpPr>
          <p:cNvPr id="1494472226" name="Text 21"/>
          <p:cNvSpPr/>
          <p:nvPr/>
        </p:nvSpPr>
        <p:spPr bwMode="auto">
          <a:xfrm>
            <a:off x="171450" y="1967674"/>
            <a:ext cx="7863840" cy="320040"/>
          </a:xfrm>
          <a:prstGeom prst="rect">
            <a:avLst/>
          </a:prstGeom>
          <a:noFill/>
          <a:ln/>
        </p:spPr>
        <p:txBody>
          <a:bodyPr wrap="square" rtlCol="0" anchor="ctr"/>
          <a:lstStyle/>
          <a:p>
            <a:pPr marL="0" indent="0">
              <a:buNone/>
              <a:defRPr/>
            </a:pPr>
            <a:r>
              <a:rPr lang="en-US" sz="1100">
                <a:solidFill>
                  <a:srgbClr val="2C3E50"/>
                </a:solidFill>
                <a:latin typeface="Calibri"/>
                <a:ea typeface="Calibri"/>
                <a:cs typeface="Calibri"/>
              </a:rPr>
              <a:t>2. Extraction: Convert API responses to structured format</a:t>
            </a:r>
            <a:endParaRPr lang="en-US" sz="1100"/>
          </a:p>
        </p:txBody>
      </p:sp>
      <p:sp>
        <p:nvSpPr>
          <p:cNvPr id="1490184038" name="Text 22"/>
          <p:cNvSpPr/>
          <p:nvPr/>
        </p:nvSpPr>
        <p:spPr bwMode="auto">
          <a:xfrm>
            <a:off x="171450" y="2287714"/>
            <a:ext cx="7863840" cy="320040"/>
          </a:xfrm>
          <a:prstGeom prst="rect">
            <a:avLst/>
          </a:prstGeom>
          <a:noFill/>
          <a:ln/>
        </p:spPr>
        <p:txBody>
          <a:bodyPr wrap="square" rtlCol="0" anchor="ctr"/>
          <a:lstStyle/>
          <a:p>
            <a:pPr marL="0" indent="0">
              <a:buNone/>
              <a:defRPr/>
            </a:pPr>
            <a:r>
              <a:rPr lang="en-US" sz="1100">
                <a:solidFill>
                  <a:srgbClr val="2C3E50"/>
                </a:solidFill>
                <a:latin typeface="Calibri"/>
                <a:ea typeface="Calibri"/>
                <a:cs typeface="Calibri"/>
              </a:rPr>
              <a:t>3. Cleaning: Handle missing values, remove duplicates, validate data</a:t>
            </a:r>
            <a:endParaRPr lang="en-US" sz="1100"/>
          </a:p>
        </p:txBody>
      </p:sp>
      <p:sp>
        <p:nvSpPr>
          <p:cNvPr id="1767060144" name="Text 23"/>
          <p:cNvSpPr/>
          <p:nvPr/>
        </p:nvSpPr>
        <p:spPr bwMode="auto">
          <a:xfrm>
            <a:off x="171450" y="2674524"/>
            <a:ext cx="7863840" cy="320040"/>
          </a:xfrm>
          <a:prstGeom prst="rect">
            <a:avLst/>
          </a:prstGeom>
          <a:noFill/>
          <a:ln/>
        </p:spPr>
        <p:txBody>
          <a:bodyPr wrap="square" rtlCol="0" anchor="ctr"/>
          <a:lstStyle/>
          <a:p>
            <a:pPr marL="0" indent="0">
              <a:buNone/>
              <a:defRPr/>
            </a:pPr>
            <a:r>
              <a:rPr lang="en-US" sz="1100">
                <a:solidFill>
                  <a:srgbClr val="2C3E50"/>
                </a:solidFill>
                <a:latin typeface="Calibri"/>
                <a:ea typeface="Calibri"/>
                <a:cs typeface="Calibri"/>
              </a:rPr>
              <a:t>4. PostgreSQL: Store processed data in normalized tables</a:t>
            </a:r>
            <a:endParaRPr lang="en-US" sz="1100"/>
          </a:p>
        </p:txBody>
      </p:sp>
      <p:sp>
        <p:nvSpPr>
          <p:cNvPr id="662632208" name="Text 24"/>
          <p:cNvSpPr/>
          <p:nvPr/>
        </p:nvSpPr>
        <p:spPr bwMode="auto">
          <a:xfrm>
            <a:off x="171450" y="3057715"/>
            <a:ext cx="7863840" cy="320040"/>
          </a:xfrm>
          <a:prstGeom prst="rect">
            <a:avLst/>
          </a:prstGeom>
          <a:noFill/>
          <a:ln/>
        </p:spPr>
        <p:txBody>
          <a:bodyPr wrap="square" rtlCol="0" anchor="ctr"/>
          <a:lstStyle/>
          <a:p>
            <a:pPr marL="0" indent="0">
              <a:buNone/>
              <a:defRPr/>
            </a:pPr>
            <a:r>
              <a:rPr lang="en-US" sz="1100">
                <a:solidFill>
                  <a:srgbClr val="2C3E50"/>
                </a:solidFill>
                <a:latin typeface="Calibri"/>
                <a:ea typeface="Calibri"/>
                <a:cs typeface="Calibri"/>
              </a:rPr>
              <a:t>5. Analytics: Query and aggregate data for insights</a:t>
            </a:r>
            <a:endParaRPr lang="en-US" sz="1100"/>
          </a:p>
        </p:txBody>
      </p:sp>
      <p:sp>
        <p:nvSpPr>
          <p:cNvPr id="1664319407" name="Text 25"/>
          <p:cNvSpPr/>
          <p:nvPr/>
        </p:nvSpPr>
        <p:spPr bwMode="auto">
          <a:xfrm>
            <a:off x="171450" y="3377755"/>
            <a:ext cx="7863840" cy="320040"/>
          </a:xfrm>
          <a:prstGeom prst="rect">
            <a:avLst/>
          </a:prstGeom>
          <a:noFill/>
          <a:ln/>
        </p:spPr>
        <p:txBody>
          <a:bodyPr wrap="square" rtlCol="0" anchor="ctr"/>
          <a:lstStyle/>
          <a:p>
            <a:pPr marL="0" indent="0">
              <a:buNone/>
              <a:defRPr/>
            </a:pPr>
            <a:r>
              <a:rPr lang="en-US" sz="1100">
                <a:solidFill>
                  <a:srgbClr val="2C3E50"/>
                </a:solidFill>
                <a:latin typeface="Calibri"/>
                <a:ea typeface="Calibri"/>
                <a:cs typeface="Calibri"/>
              </a:rPr>
              <a:t>6. Dashboard: Visualize metrics and trends</a:t>
            </a:r>
            <a:endParaRPr lang="en-US" sz="1100"/>
          </a:p>
        </p:txBody>
      </p:sp>
      <p:pic>
        <p:nvPicPr>
          <p:cNvPr id="618231989" name=""/>
          <p:cNvPicPr>
            <a:picLocks noChangeAspect="1"/>
          </p:cNvPicPr>
          <p:nvPr/>
        </p:nvPicPr>
        <p:blipFill rotWithShape="1">
          <a:blip r:embed="rId3"/>
          <a:srcRect l="27747" t="0" r="28632" b="0"/>
          <a:stretch/>
        </p:blipFill>
        <p:spPr bwMode="auto">
          <a:xfrm flipH="0" flipV="0">
            <a:off x="4836419" y="0"/>
            <a:ext cx="4320704" cy="513159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bg>
      <p:bgPr shadeToTitle="0">
        <a:solidFill>
          <a:srgbClr val="27AE60"/>
        </a:solidFill>
      </p:bgPr>
    </p:bg>
    <p:spTree>
      <p:nvGrpSpPr>
        <p:cNvPr id="1" name=""/>
        <p:cNvGrpSpPr/>
        <p:nvPr/>
      </p:nvGrpSpPr>
      <p:grpSpPr bwMode="auto">
        <a:xfrm>
          <a:off x="0" y="0"/>
          <a:ext cx="0" cy="0"/>
          <a:chOff x="0" y="0"/>
          <a:chExt cx="0" cy="0"/>
        </a:xfrm>
      </p:grpSpPr>
      <p:sp>
        <p:nvSpPr>
          <p:cNvPr id="390131125" name=""/>
          <p:cNvSpPr/>
          <p:nvPr/>
        </p:nvSpPr>
        <p:spPr bwMode="auto">
          <a:xfrm rot="0" flipH="0" flipV="0">
            <a:off x="-10687" y="-11904"/>
            <a:ext cx="9143999" cy="5298279"/>
          </a:xfrm>
          <a:custGeom>
            <a:avLst/>
            <a:gdLst/>
            <a:ahLst/>
            <a:cxnLst/>
            <a:rect l="0" t="0" r="r" b="b"/>
            <a:pathLst>
              <a:path w="43200" h="43200" fill="norm" stroke="1" extrusionOk="0">
                <a:moveTo>
                  <a:pt x="0" y="0"/>
                </a:moveTo>
                <a:lnTo>
                  <a:pt x="43200" y="0"/>
                </a:lnTo>
                <a:lnTo>
                  <a:pt x="43200" y="43200"/>
                </a:lnTo>
                <a:lnTo>
                  <a:pt x="0" y="43199"/>
                </a:lnTo>
                <a:lnTo>
                  <a:pt x="0" y="0"/>
                </a:lnTo>
                <a:close/>
              </a:path>
            </a:pathLst>
          </a:custGeom>
          <a:solidFill>
            <a:schemeClr val="accent1">
              <a:lumMod val="75000"/>
            </a:schemeClr>
          </a:solidFill>
          <a:ln w="12700" cap="flat" cmpd="sng" algn="ctr">
            <a:solidFill>
              <a:schemeClr val="tx2"/>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a:p>
        </p:txBody>
      </p:sp>
      <p:sp>
        <p:nvSpPr>
          <p:cNvPr id="522384421" name="Text 0"/>
          <p:cNvSpPr/>
          <p:nvPr/>
        </p:nvSpPr>
        <p:spPr bwMode="auto">
          <a:xfrm>
            <a:off x="457200" y="1371600"/>
            <a:ext cx="8229600" cy="914400"/>
          </a:xfrm>
          <a:prstGeom prst="rect">
            <a:avLst/>
          </a:prstGeom>
          <a:noFill/>
          <a:ln/>
        </p:spPr>
        <p:txBody>
          <a:bodyPr wrap="square" rtlCol="0" anchor="ctr"/>
          <a:lstStyle/>
          <a:p>
            <a:pPr marL="0" indent="0" algn="ctr">
              <a:buNone/>
              <a:defRPr/>
            </a:pPr>
            <a:r>
              <a:rPr lang="en-US" sz="4800" b="1">
                <a:solidFill>
                  <a:srgbClr val="FFFFFF"/>
                </a:solidFill>
                <a:latin typeface="Calibri"/>
                <a:ea typeface="Calibri"/>
                <a:cs typeface="Calibri"/>
              </a:rPr>
              <a:t>Thank You</a:t>
            </a:r>
            <a:endParaRPr lang="en-US" sz="4800"/>
          </a:p>
        </p:txBody>
      </p:sp>
      <p:sp>
        <p:nvSpPr>
          <p:cNvPr id="1219267512" name="Text 1"/>
          <p:cNvSpPr/>
          <p:nvPr/>
        </p:nvSpPr>
        <p:spPr bwMode="auto">
          <a:xfrm>
            <a:off x="457200" y="2468880"/>
            <a:ext cx="8229600" cy="548640"/>
          </a:xfrm>
          <a:prstGeom prst="rect">
            <a:avLst/>
          </a:prstGeom>
          <a:noFill/>
          <a:ln/>
        </p:spPr>
        <p:txBody>
          <a:bodyPr wrap="square" rtlCol="0" anchor="ctr"/>
          <a:lstStyle/>
          <a:p>
            <a:pPr marL="0" indent="0" algn="ctr">
              <a:buNone/>
              <a:defRPr/>
            </a:pPr>
            <a:r>
              <a:rPr lang="en-US" sz="2800">
                <a:solidFill>
                  <a:srgbClr val="FFFFFF"/>
                </a:solidFill>
                <a:latin typeface="Calibri"/>
                <a:ea typeface="Calibri"/>
                <a:cs typeface="Calibri"/>
              </a:rPr>
              <a:t>Questions &amp; Discussion</a:t>
            </a:r>
            <a:endParaRPr lang="en-US" sz="2800"/>
          </a:p>
        </p:txBody>
      </p:sp>
      <p:sp>
        <p:nvSpPr>
          <p:cNvPr id="641913305" name="Shape 2"/>
          <p:cNvSpPr/>
          <p:nvPr/>
        </p:nvSpPr>
        <p:spPr bwMode="auto">
          <a:xfrm>
            <a:off x="2286000" y="3291840"/>
            <a:ext cx="4572000" cy="1097280"/>
          </a:xfrm>
          <a:prstGeom prst="rect">
            <a:avLst/>
          </a:prstGeom>
          <a:solidFill>
            <a:srgbClr val="FFFFFF"/>
          </a:solidFill>
          <a:ln/>
        </p:spPr>
        <p:txBody>
          <a:bodyPr/>
          <a:lstStyle/>
          <a:p>
            <a:pPr>
              <a:defRPr/>
            </a:pPr>
            <a:endParaRPr lang="en-IN"/>
          </a:p>
        </p:txBody>
      </p:sp>
      <p:sp>
        <p:nvSpPr>
          <p:cNvPr id="1642103634" name="Text 3"/>
          <p:cNvSpPr/>
          <p:nvPr/>
        </p:nvSpPr>
        <p:spPr bwMode="auto">
          <a:xfrm>
            <a:off x="2468880" y="3383280"/>
            <a:ext cx="4206240" cy="914400"/>
          </a:xfrm>
          <a:prstGeom prst="rect">
            <a:avLst/>
          </a:prstGeom>
          <a:noFill/>
          <a:ln/>
        </p:spPr>
        <p:txBody>
          <a:bodyPr wrap="square" rtlCol="0" anchor="ctr"/>
          <a:lstStyle/>
          <a:p>
            <a:pPr marL="0" indent="0" algn="ctr">
              <a:buNone/>
              <a:defRPr/>
            </a:pPr>
            <a:r>
              <a:rPr lang="en-US" sz="1300">
                <a:solidFill>
                  <a:srgbClr val="1F3A7F"/>
                </a:solidFill>
                <a:latin typeface="Calibri"/>
                <a:ea typeface="Calibri"/>
                <a:cs typeface="Calibri"/>
              </a:rPr>
              <a:t>Feel free to ask any questions about the architecture, implementation, or any aspects of the project.</a:t>
            </a:r>
            <a:endParaRPr lang="en-US" sz="1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6</Slides>
  <Notes>6</Notes>
  <HiddenSlides>0</HiddenSlides>
  <MMClips>2</MMClips>
  <ScaleCrop>0</ScaleCrop>
  <HeadingPairs>
    <vt:vector size="4" baseType="variant">
      <vt:variant>
        <vt:lpstr>Theme</vt:lpstr>
      </vt:variant>
      <vt:variant>
        <vt:i4>1</vt:i4>
      </vt:variant>
      <vt:variant>
        <vt:lpstr>Slide Titles</vt:lpstr>
      </vt:variant>
      <vt:variant>
        <vt:i4>6</vt:i4>
      </vt:variant>
    </vt:vector>
  </HeadingPairs>
  <TitlesOfParts>
    <vt:vector size="7" baseType="lpstr">
      <vt:lpstr>Theme 1</vt:lpstr>
      <vt:lpstr>Slide 1</vt:lpstr>
      <vt:lpstr>Slide 2</vt:lpstr>
      <vt:lpstr>Slide 3</vt:lpstr>
      <vt:lpstr>Slide 4</vt:lpstr>
      <vt:lpstr>Slide 5</vt:lpstr>
      <vt:lpstr>Slide 6</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
  <cp:revision>7</cp:revision>
  <dcterms:created xsi:type="dcterms:W3CDTF">2026-08-08T05:13:43Z</dcterms:created>
  <dcterms:modified xsi:type="dcterms:W3CDTF">2026-08-24T04:59:56Z</dcterms:modified>
</cp:coreProperties>
</file>